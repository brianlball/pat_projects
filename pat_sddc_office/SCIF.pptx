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8" r:id="rId3"/>
    <p:sldId id="261" r:id="rId4"/>
    <p:sldId id="260" r:id="rId5"/>
    <p:sldId id="263" r:id="rId6"/>
    <p:sldId id="259" r:id="rId7"/>
    <p:sldId id="256" r:id="rId8"/>
    <p:sldId id="25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EC80F2-0D6F-47A9-A08A-F45A11080F5B}" v="23" dt="2025-10-16T15:39:25.0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8" autoAdjust="0"/>
    <p:restoredTop sz="94660"/>
  </p:normalViewPr>
  <p:slideViewPr>
    <p:cSldViewPr snapToGrid="0">
      <p:cViewPr>
        <p:scale>
          <a:sx n="100" d="100"/>
          <a:sy n="100" d="100"/>
        </p:scale>
        <p:origin x="2298" y="8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E170B-C640-8864-E369-7CB4150EF26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E2FC122-DE5E-52B8-79ED-EAAB6A7C7C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5F3D89-65D1-6A6A-62E0-F562AF8D77B9}"/>
              </a:ext>
            </a:extLst>
          </p:cNvPr>
          <p:cNvSpPr>
            <a:spLocks noGrp="1"/>
          </p:cNvSpPr>
          <p:nvPr>
            <p:ph type="dt" sz="half" idx="10"/>
          </p:nvPr>
        </p:nvSpPr>
        <p:spPr/>
        <p:txBody>
          <a:bodyPr/>
          <a:lstStyle/>
          <a:p>
            <a:fld id="{25C600AD-ED10-4627-A7A8-D97ECF6F9A0B}" type="datetimeFigureOut">
              <a:rPr lang="en-US" smtClean="0"/>
              <a:t>10/20/2025</a:t>
            </a:fld>
            <a:endParaRPr lang="en-US"/>
          </a:p>
        </p:txBody>
      </p:sp>
      <p:sp>
        <p:nvSpPr>
          <p:cNvPr id="5" name="Footer Placeholder 4">
            <a:extLst>
              <a:ext uri="{FF2B5EF4-FFF2-40B4-BE49-F238E27FC236}">
                <a16:creationId xmlns:a16="http://schemas.microsoft.com/office/drawing/2014/main" id="{598E03C4-2C6D-4A1C-BDC3-943F397009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CBE0B5-99B5-DF11-E3A2-7D356B2B4B5C}"/>
              </a:ext>
            </a:extLst>
          </p:cNvPr>
          <p:cNvSpPr>
            <a:spLocks noGrp="1"/>
          </p:cNvSpPr>
          <p:nvPr>
            <p:ph type="sldNum" sz="quarter" idx="12"/>
          </p:nvPr>
        </p:nvSpPr>
        <p:spPr/>
        <p:txBody>
          <a:bodyPr/>
          <a:lstStyle/>
          <a:p>
            <a:fld id="{CE0CA84C-67B4-4EC6-9E5B-76DEBE35063B}" type="slidenum">
              <a:rPr lang="en-US" smtClean="0"/>
              <a:t>‹#›</a:t>
            </a:fld>
            <a:endParaRPr lang="en-US"/>
          </a:p>
        </p:txBody>
      </p:sp>
    </p:spTree>
    <p:extLst>
      <p:ext uri="{BB962C8B-B14F-4D97-AF65-F5344CB8AC3E}">
        <p14:creationId xmlns:p14="http://schemas.microsoft.com/office/powerpoint/2010/main" val="3219624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A434D-381B-246F-B042-92D2463AFE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89291-7CCB-03CC-673C-6EED63EA4F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664B8D-B56D-B2EE-4F0D-2D992D1B5F13}"/>
              </a:ext>
            </a:extLst>
          </p:cNvPr>
          <p:cNvSpPr>
            <a:spLocks noGrp="1"/>
          </p:cNvSpPr>
          <p:nvPr>
            <p:ph type="dt" sz="half" idx="10"/>
          </p:nvPr>
        </p:nvSpPr>
        <p:spPr/>
        <p:txBody>
          <a:bodyPr/>
          <a:lstStyle/>
          <a:p>
            <a:fld id="{25C600AD-ED10-4627-A7A8-D97ECF6F9A0B}" type="datetimeFigureOut">
              <a:rPr lang="en-US" smtClean="0"/>
              <a:t>10/20/2025</a:t>
            </a:fld>
            <a:endParaRPr lang="en-US"/>
          </a:p>
        </p:txBody>
      </p:sp>
      <p:sp>
        <p:nvSpPr>
          <p:cNvPr id="5" name="Footer Placeholder 4">
            <a:extLst>
              <a:ext uri="{FF2B5EF4-FFF2-40B4-BE49-F238E27FC236}">
                <a16:creationId xmlns:a16="http://schemas.microsoft.com/office/drawing/2014/main" id="{A9990E19-2EA0-F39E-78C1-A253820501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B586D2-2253-DF44-98B3-E063F1336509}"/>
              </a:ext>
            </a:extLst>
          </p:cNvPr>
          <p:cNvSpPr>
            <a:spLocks noGrp="1"/>
          </p:cNvSpPr>
          <p:nvPr>
            <p:ph type="sldNum" sz="quarter" idx="12"/>
          </p:nvPr>
        </p:nvSpPr>
        <p:spPr/>
        <p:txBody>
          <a:bodyPr/>
          <a:lstStyle/>
          <a:p>
            <a:fld id="{CE0CA84C-67B4-4EC6-9E5B-76DEBE35063B}" type="slidenum">
              <a:rPr lang="en-US" smtClean="0"/>
              <a:t>‹#›</a:t>
            </a:fld>
            <a:endParaRPr lang="en-US"/>
          </a:p>
        </p:txBody>
      </p:sp>
    </p:spTree>
    <p:extLst>
      <p:ext uri="{BB962C8B-B14F-4D97-AF65-F5344CB8AC3E}">
        <p14:creationId xmlns:p14="http://schemas.microsoft.com/office/powerpoint/2010/main" val="736117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8BD1C-FB73-0F43-E9F4-9D49A9A448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9EEF539-8D29-F6F9-1C78-4F3B034A22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763B77-C76A-D03A-49F8-DE61B80061F1}"/>
              </a:ext>
            </a:extLst>
          </p:cNvPr>
          <p:cNvSpPr>
            <a:spLocks noGrp="1"/>
          </p:cNvSpPr>
          <p:nvPr>
            <p:ph type="dt" sz="half" idx="10"/>
          </p:nvPr>
        </p:nvSpPr>
        <p:spPr/>
        <p:txBody>
          <a:bodyPr/>
          <a:lstStyle/>
          <a:p>
            <a:fld id="{25C600AD-ED10-4627-A7A8-D97ECF6F9A0B}" type="datetimeFigureOut">
              <a:rPr lang="en-US" smtClean="0"/>
              <a:t>10/20/2025</a:t>
            </a:fld>
            <a:endParaRPr lang="en-US"/>
          </a:p>
        </p:txBody>
      </p:sp>
      <p:sp>
        <p:nvSpPr>
          <p:cNvPr id="5" name="Footer Placeholder 4">
            <a:extLst>
              <a:ext uri="{FF2B5EF4-FFF2-40B4-BE49-F238E27FC236}">
                <a16:creationId xmlns:a16="http://schemas.microsoft.com/office/drawing/2014/main" id="{537FEC45-832E-26F6-C71F-6DDF796DB0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CA032B-5C9F-F8F6-50E4-7B06ABB836F8}"/>
              </a:ext>
            </a:extLst>
          </p:cNvPr>
          <p:cNvSpPr>
            <a:spLocks noGrp="1"/>
          </p:cNvSpPr>
          <p:nvPr>
            <p:ph type="sldNum" sz="quarter" idx="12"/>
          </p:nvPr>
        </p:nvSpPr>
        <p:spPr/>
        <p:txBody>
          <a:bodyPr/>
          <a:lstStyle/>
          <a:p>
            <a:fld id="{CE0CA84C-67B4-4EC6-9E5B-76DEBE35063B}" type="slidenum">
              <a:rPr lang="en-US" smtClean="0"/>
              <a:t>‹#›</a:t>
            </a:fld>
            <a:endParaRPr lang="en-US"/>
          </a:p>
        </p:txBody>
      </p:sp>
    </p:spTree>
    <p:extLst>
      <p:ext uri="{BB962C8B-B14F-4D97-AF65-F5344CB8AC3E}">
        <p14:creationId xmlns:p14="http://schemas.microsoft.com/office/powerpoint/2010/main" val="2616866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F06E7-32FC-29FD-AA68-BCFBD3BB2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F5241F-BAFA-38EB-3E52-C285DCAED2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D0B430-3D4C-508C-9C49-00CEDD22B4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B923F5-DB2A-DC9C-4930-BE323C95ACF9}"/>
              </a:ext>
            </a:extLst>
          </p:cNvPr>
          <p:cNvSpPr>
            <a:spLocks noGrp="1"/>
          </p:cNvSpPr>
          <p:nvPr>
            <p:ph type="dt" sz="half" idx="10"/>
          </p:nvPr>
        </p:nvSpPr>
        <p:spPr/>
        <p:txBody>
          <a:bodyPr/>
          <a:lstStyle/>
          <a:p>
            <a:fld id="{25C600AD-ED10-4627-A7A8-D97ECF6F9A0B}" type="datetimeFigureOut">
              <a:rPr lang="en-US" smtClean="0"/>
              <a:t>10/20/2025</a:t>
            </a:fld>
            <a:endParaRPr lang="en-US"/>
          </a:p>
        </p:txBody>
      </p:sp>
      <p:sp>
        <p:nvSpPr>
          <p:cNvPr id="6" name="Footer Placeholder 5">
            <a:extLst>
              <a:ext uri="{FF2B5EF4-FFF2-40B4-BE49-F238E27FC236}">
                <a16:creationId xmlns:a16="http://schemas.microsoft.com/office/drawing/2014/main" id="{592BDA58-0C93-CCFA-A601-D6209ABC2C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607AED-EF50-1ED4-8444-E95B4C13508D}"/>
              </a:ext>
            </a:extLst>
          </p:cNvPr>
          <p:cNvSpPr>
            <a:spLocks noGrp="1"/>
          </p:cNvSpPr>
          <p:nvPr>
            <p:ph type="sldNum" sz="quarter" idx="12"/>
          </p:nvPr>
        </p:nvSpPr>
        <p:spPr/>
        <p:txBody>
          <a:bodyPr/>
          <a:lstStyle/>
          <a:p>
            <a:fld id="{CE0CA84C-67B4-4EC6-9E5B-76DEBE35063B}" type="slidenum">
              <a:rPr lang="en-US" smtClean="0"/>
              <a:t>‹#›</a:t>
            </a:fld>
            <a:endParaRPr lang="en-US"/>
          </a:p>
        </p:txBody>
      </p:sp>
    </p:spTree>
    <p:extLst>
      <p:ext uri="{BB962C8B-B14F-4D97-AF65-F5344CB8AC3E}">
        <p14:creationId xmlns:p14="http://schemas.microsoft.com/office/powerpoint/2010/main" val="1837501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F9F3C-15F3-64B2-1FA8-F5CC4187258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637610-C61E-A7AD-4940-D643C04EC4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C4563C-C087-5C22-BF65-6CED114005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A708A8-7956-52F5-3F81-FEC2B714CF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9C2C9D-C0D5-46B7-053D-133AAED1BC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C715416-718B-9D75-AC95-F4949DDB653C}"/>
              </a:ext>
            </a:extLst>
          </p:cNvPr>
          <p:cNvSpPr>
            <a:spLocks noGrp="1"/>
          </p:cNvSpPr>
          <p:nvPr>
            <p:ph type="dt" sz="half" idx="10"/>
          </p:nvPr>
        </p:nvSpPr>
        <p:spPr/>
        <p:txBody>
          <a:bodyPr/>
          <a:lstStyle/>
          <a:p>
            <a:fld id="{25C600AD-ED10-4627-A7A8-D97ECF6F9A0B}" type="datetimeFigureOut">
              <a:rPr lang="en-US" smtClean="0"/>
              <a:t>10/20/2025</a:t>
            </a:fld>
            <a:endParaRPr lang="en-US"/>
          </a:p>
        </p:txBody>
      </p:sp>
      <p:sp>
        <p:nvSpPr>
          <p:cNvPr id="8" name="Footer Placeholder 7">
            <a:extLst>
              <a:ext uri="{FF2B5EF4-FFF2-40B4-BE49-F238E27FC236}">
                <a16:creationId xmlns:a16="http://schemas.microsoft.com/office/drawing/2014/main" id="{7D3305EB-E95F-9D75-D2AE-707F8C947F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7E6BBF-E7FA-7153-D686-600DA6D6C0C1}"/>
              </a:ext>
            </a:extLst>
          </p:cNvPr>
          <p:cNvSpPr>
            <a:spLocks noGrp="1"/>
          </p:cNvSpPr>
          <p:nvPr>
            <p:ph type="sldNum" sz="quarter" idx="12"/>
          </p:nvPr>
        </p:nvSpPr>
        <p:spPr/>
        <p:txBody>
          <a:bodyPr/>
          <a:lstStyle/>
          <a:p>
            <a:fld id="{CE0CA84C-67B4-4EC6-9E5B-76DEBE35063B}" type="slidenum">
              <a:rPr lang="en-US" smtClean="0"/>
              <a:t>‹#›</a:t>
            </a:fld>
            <a:endParaRPr lang="en-US"/>
          </a:p>
        </p:txBody>
      </p:sp>
    </p:spTree>
    <p:extLst>
      <p:ext uri="{BB962C8B-B14F-4D97-AF65-F5344CB8AC3E}">
        <p14:creationId xmlns:p14="http://schemas.microsoft.com/office/powerpoint/2010/main" val="1625451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51BED-0F4A-062D-3B75-2ADB8A6C59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3CCD80D-BD82-7C29-157A-9388FCDAAE85}"/>
              </a:ext>
            </a:extLst>
          </p:cNvPr>
          <p:cNvSpPr>
            <a:spLocks noGrp="1"/>
          </p:cNvSpPr>
          <p:nvPr>
            <p:ph type="dt" sz="half" idx="10"/>
          </p:nvPr>
        </p:nvSpPr>
        <p:spPr/>
        <p:txBody>
          <a:bodyPr/>
          <a:lstStyle/>
          <a:p>
            <a:fld id="{25C600AD-ED10-4627-A7A8-D97ECF6F9A0B}" type="datetimeFigureOut">
              <a:rPr lang="en-US" smtClean="0"/>
              <a:t>10/20/2025</a:t>
            </a:fld>
            <a:endParaRPr lang="en-US"/>
          </a:p>
        </p:txBody>
      </p:sp>
      <p:sp>
        <p:nvSpPr>
          <p:cNvPr id="4" name="Footer Placeholder 3">
            <a:extLst>
              <a:ext uri="{FF2B5EF4-FFF2-40B4-BE49-F238E27FC236}">
                <a16:creationId xmlns:a16="http://schemas.microsoft.com/office/drawing/2014/main" id="{AD8DFA47-8061-AF7B-E74C-B8DFCE61A0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2BA26E-3C41-04EC-491D-A2670CA40A60}"/>
              </a:ext>
            </a:extLst>
          </p:cNvPr>
          <p:cNvSpPr>
            <a:spLocks noGrp="1"/>
          </p:cNvSpPr>
          <p:nvPr>
            <p:ph type="sldNum" sz="quarter" idx="12"/>
          </p:nvPr>
        </p:nvSpPr>
        <p:spPr/>
        <p:txBody>
          <a:bodyPr/>
          <a:lstStyle/>
          <a:p>
            <a:fld id="{CE0CA84C-67B4-4EC6-9E5B-76DEBE35063B}" type="slidenum">
              <a:rPr lang="en-US" smtClean="0"/>
              <a:t>‹#›</a:t>
            </a:fld>
            <a:endParaRPr lang="en-US"/>
          </a:p>
        </p:txBody>
      </p:sp>
    </p:spTree>
    <p:extLst>
      <p:ext uri="{BB962C8B-B14F-4D97-AF65-F5344CB8AC3E}">
        <p14:creationId xmlns:p14="http://schemas.microsoft.com/office/powerpoint/2010/main" val="2807395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188DC5-B023-C53C-AEBB-67BDBF16D8C2}"/>
              </a:ext>
            </a:extLst>
          </p:cNvPr>
          <p:cNvSpPr>
            <a:spLocks noGrp="1"/>
          </p:cNvSpPr>
          <p:nvPr>
            <p:ph type="dt" sz="half" idx="10"/>
          </p:nvPr>
        </p:nvSpPr>
        <p:spPr/>
        <p:txBody>
          <a:bodyPr/>
          <a:lstStyle/>
          <a:p>
            <a:fld id="{25C600AD-ED10-4627-A7A8-D97ECF6F9A0B}" type="datetimeFigureOut">
              <a:rPr lang="en-US" smtClean="0"/>
              <a:t>10/20/2025</a:t>
            </a:fld>
            <a:endParaRPr lang="en-US"/>
          </a:p>
        </p:txBody>
      </p:sp>
      <p:sp>
        <p:nvSpPr>
          <p:cNvPr id="3" name="Footer Placeholder 2">
            <a:extLst>
              <a:ext uri="{FF2B5EF4-FFF2-40B4-BE49-F238E27FC236}">
                <a16:creationId xmlns:a16="http://schemas.microsoft.com/office/drawing/2014/main" id="{655186B9-4392-A680-5127-81B39287D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BF4670C-883A-CBA4-2CCE-F37A1A19FE99}"/>
              </a:ext>
            </a:extLst>
          </p:cNvPr>
          <p:cNvSpPr>
            <a:spLocks noGrp="1"/>
          </p:cNvSpPr>
          <p:nvPr>
            <p:ph type="sldNum" sz="quarter" idx="12"/>
          </p:nvPr>
        </p:nvSpPr>
        <p:spPr/>
        <p:txBody>
          <a:bodyPr/>
          <a:lstStyle/>
          <a:p>
            <a:fld id="{CE0CA84C-67B4-4EC6-9E5B-76DEBE35063B}" type="slidenum">
              <a:rPr lang="en-US" smtClean="0"/>
              <a:t>‹#›</a:t>
            </a:fld>
            <a:endParaRPr lang="en-US"/>
          </a:p>
        </p:txBody>
      </p:sp>
    </p:spTree>
    <p:extLst>
      <p:ext uri="{BB962C8B-B14F-4D97-AF65-F5344CB8AC3E}">
        <p14:creationId xmlns:p14="http://schemas.microsoft.com/office/powerpoint/2010/main" val="3981443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B6175-F7EC-85A9-A81A-F4C4F5DCC9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712F5B7-2928-2FBB-612C-FEB55DC7A2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335A2B-0483-81B9-BD2F-A449606DC3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9754C4-4A92-2E8D-3EDF-84F92DF827E3}"/>
              </a:ext>
            </a:extLst>
          </p:cNvPr>
          <p:cNvSpPr>
            <a:spLocks noGrp="1"/>
          </p:cNvSpPr>
          <p:nvPr>
            <p:ph type="dt" sz="half" idx="10"/>
          </p:nvPr>
        </p:nvSpPr>
        <p:spPr/>
        <p:txBody>
          <a:bodyPr/>
          <a:lstStyle/>
          <a:p>
            <a:fld id="{25C600AD-ED10-4627-A7A8-D97ECF6F9A0B}" type="datetimeFigureOut">
              <a:rPr lang="en-US" smtClean="0"/>
              <a:t>10/20/2025</a:t>
            </a:fld>
            <a:endParaRPr lang="en-US"/>
          </a:p>
        </p:txBody>
      </p:sp>
      <p:sp>
        <p:nvSpPr>
          <p:cNvPr id="6" name="Footer Placeholder 5">
            <a:extLst>
              <a:ext uri="{FF2B5EF4-FFF2-40B4-BE49-F238E27FC236}">
                <a16:creationId xmlns:a16="http://schemas.microsoft.com/office/drawing/2014/main" id="{19F80BB4-770C-6D0D-3B2C-51D36AA021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F09614-9954-4AFF-B215-632CD1A87632}"/>
              </a:ext>
            </a:extLst>
          </p:cNvPr>
          <p:cNvSpPr>
            <a:spLocks noGrp="1"/>
          </p:cNvSpPr>
          <p:nvPr>
            <p:ph type="sldNum" sz="quarter" idx="12"/>
          </p:nvPr>
        </p:nvSpPr>
        <p:spPr/>
        <p:txBody>
          <a:bodyPr/>
          <a:lstStyle/>
          <a:p>
            <a:fld id="{CE0CA84C-67B4-4EC6-9E5B-76DEBE35063B}" type="slidenum">
              <a:rPr lang="en-US" smtClean="0"/>
              <a:t>‹#›</a:t>
            </a:fld>
            <a:endParaRPr lang="en-US"/>
          </a:p>
        </p:txBody>
      </p:sp>
    </p:spTree>
    <p:extLst>
      <p:ext uri="{BB962C8B-B14F-4D97-AF65-F5344CB8AC3E}">
        <p14:creationId xmlns:p14="http://schemas.microsoft.com/office/powerpoint/2010/main" val="1722209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DBFC-FB7B-467B-B6EC-626D861D44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179EF1-66EE-D844-A9F0-518EF9EE93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FDC39CD-C9A1-1F21-4094-BDBD2D15B8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B6FB1D-5FEA-1271-E1EF-4399D5D3472A}"/>
              </a:ext>
            </a:extLst>
          </p:cNvPr>
          <p:cNvSpPr>
            <a:spLocks noGrp="1"/>
          </p:cNvSpPr>
          <p:nvPr>
            <p:ph type="dt" sz="half" idx="10"/>
          </p:nvPr>
        </p:nvSpPr>
        <p:spPr/>
        <p:txBody>
          <a:bodyPr/>
          <a:lstStyle/>
          <a:p>
            <a:fld id="{25C600AD-ED10-4627-A7A8-D97ECF6F9A0B}" type="datetimeFigureOut">
              <a:rPr lang="en-US" smtClean="0"/>
              <a:t>10/20/2025</a:t>
            </a:fld>
            <a:endParaRPr lang="en-US"/>
          </a:p>
        </p:txBody>
      </p:sp>
      <p:sp>
        <p:nvSpPr>
          <p:cNvPr id="6" name="Footer Placeholder 5">
            <a:extLst>
              <a:ext uri="{FF2B5EF4-FFF2-40B4-BE49-F238E27FC236}">
                <a16:creationId xmlns:a16="http://schemas.microsoft.com/office/drawing/2014/main" id="{0C00777F-9EC3-A49B-B9B0-9163858EB5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6A8811-93F6-159D-4730-5247C486954E}"/>
              </a:ext>
            </a:extLst>
          </p:cNvPr>
          <p:cNvSpPr>
            <a:spLocks noGrp="1"/>
          </p:cNvSpPr>
          <p:nvPr>
            <p:ph type="sldNum" sz="quarter" idx="12"/>
          </p:nvPr>
        </p:nvSpPr>
        <p:spPr/>
        <p:txBody>
          <a:bodyPr/>
          <a:lstStyle/>
          <a:p>
            <a:fld id="{CE0CA84C-67B4-4EC6-9E5B-76DEBE35063B}" type="slidenum">
              <a:rPr lang="en-US" smtClean="0"/>
              <a:t>‹#›</a:t>
            </a:fld>
            <a:endParaRPr lang="en-US"/>
          </a:p>
        </p:txBody>
      </p:sp>
    </p:spTree>
    <p:extLst>
      <p:ext uri="{BB962C8B-B14F-4D97-AF65-F5344CB8AC3E}">
        <p14:creationId xmlns:p14="http://schemas.microsoft.com/office/powerpoint/2010/main" val="946961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BD413-1A0A-1755-335D-894DAC5F46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EE7843-8742-BECA-F4CF-DF3A87DDF2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371845-EEAA-7A82-DB49-0DA46B715D69}"/>
              </a:ext>
            </a:extLst>
          </p:cNvPr>
          <p:cNvSpPr>
            <a:spLocks noGrp="1"/>
          </p:cNvSpPr>
          <p:nvPr>
            <p:ph type="dt" sz="half" idx="10"/>
          </p:nvPr>
        </p:nvSpPr>
        <p:spPr/>
        <p:txBody>
          <a:bodyPr/>
          <a:lstStyle/>
          <a:p>
            <a:fld id="{25C600AD-ED10-4627-A7A8-D97ECF6F9A0B}" type="datetimeFigureOut">
              <a:rPr lang="en-US" smtClean="0"/>
              <a:t>10/20/2025</a:t>
            </a:fld>
            <a:endParaRPr lang="en-US"/>
          </a:p>
        </p:txBody>
      </p:sp>
      <p:sp>
        <p:nvSpPr>
          <p:cNvPr id="5" name="Footer Placeholder 4">
            <a:extLst>
              <a:ext uri="{FF2B5EF4-FFF2-40B4-BE49-F238E27FC236}">
                <a16:creationId xmlns:a16="http://schemas.microsoft.com/office/drawing/2014/main" id="{434E21F4-D389-DD88-40AE-E5DCBB8F25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5D17AB-A855-E747-5ADC-C3C6DB245BBE}"/>
              </a:ext>
            </a:extLst>
          </p:cNvPr>
          <p:cNvSpPr>
            <a:spLocks noGrp="1"/>
          </p:cNvSpPr>
          <p:nvPr>
            <p:ph type="sldNum" sz="quarter" idx="12"/>
          </p:nvPr>
        </p:nvSpPr>
        <p:spPr/>
        <p:txBody>
          <a:bodyPr/>
          <a:lstStyle/>
          <a:p>
            <a:fld id="{CE0CA84C-67B4-4EC6-9E5B-76DEBE35063B}" type="slidenum">
              <a:rPr lang="en-US" smtClean="0"/>
              <a:t>‹#›</a:t>
            </a:fld>
            <a:endParaRPr lang="en-US"/>
          </a:p>
        </p:txBody>
      </p:sp>
    </p:spTree>
    <p:extLst>
      <p:ext uri="{BB962C8B-B14F-4D97-AF65-F5344CB8AC3E}">
        <p14:creationId xmlns:p14="http://schemas.microsoft.com/office/powerpoint/2010/main" val="3743137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B59D5-0D3E-FC66-7D57-E8D9E9EFAA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9F50F6-EA98-DA3F-1BC2-AFD2BDBA60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8DD832-82F5-254E-0BCA-7D21ACFB8D30}"/>
              </a:ext>
            </a:extLst>
          </p:cNvPr>
          <p:cNvSpPr>
            <a:spLocks noGrp="1"/>
          </p:cNvSpPr>
          <p:nvPr>
            <p:ph type="dt" sz="half" idx="10"/>
          </p:nvPr>
        </p:nvSpPr>
        <p:spPr/>
        <p:txBody>
          <a:bodyPr/>
          <a:lstStyle/>
          <a:p>
            <a:fld id="{25C600AD-ED10-4627-A7A8-D97ECF6F9A0B}" type="datetimeFigureOut">
              <a:rPr lang="en-US" smtClean="0"/>
              <a:t>10/20/2025</a:t>
            </a:fld>
            <a:endParaRPr lang="en-US"/>
          </a:p>
        </p:txBody>
      </p:sp>
      <p:sp>
        <p:nvSpPr>
          <p:cNvPr id="5" name="Footer Placeholder 4">
            <a:extLst>
              <a:ext uri="{FF2B5EF4-FFF2-40B4-BE49-F238E27FC236}">
                <a16:creationId xmlns:a16="http://schemas.microsoft.com/office/drawing/2014/main" id="{C9E98413-861B-9D3F-8C08-45152FDBBB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661582-8416-C43F-BC23-384C16762578}"/>
              </a:ext>
            </a:extLst>
          </p:cNvPr>
          <p:cNvSpPr>
            <a:spLocks noGrp="1"/>
          </p:cNvSpPr>
          <p:nvPr>
            <p:ph type="sldNum" sz="quarter" idx="12"/>
          </p:nvPr>
        </p:nvSpPr>
        <p:spPr/>
        <p:txBody>
          <a:bodyPr/>
          <a:lstStyle/>
          <a:p>
            <a:fld id="{CE0CA84C-67B4-4EC6-9E5B-76DEBE35063B}" type="slidenum">
              <a:rPr lang="en-US" smtClean="0"/>
              <a:t>‹#›</a:t>
            </a:fld>
            <a:endParaRPr lang="en-US"/>
          </a:p>
        </p:txBody>
      </p:sp>
    </p:spTree>
    <p:extLst>
      <p:ext uri="{BB962C8B-B14F-4D97-AF65-F5344CB8AC3E}">
        <p14:creationId xmlns:p14="http://schemas.microsoft.com/office/powerpoint/2010/main" val="2284064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9C49D4-1E59-D9D5-CD30-B3090640F3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A3C838-DE3E-7194-F893-43911231FC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B12597-FF52-3C93-104A-ECF0824F40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C600AD-ED10-4627-A7A8-D97ECF6F9A0B}" type="datetimeFigureOut">
              <a:rPr lang="en-US" smtClean="0"/>
              <a:t>10/20/2025</a:t>
            </a:fld>
            <a:endParaRPr lang="en-US"/>
          </a:p>
        </p:txBody>
      </p:sp>
      <p:sp>
        <p:nvSpPr>
          <p:cNvPr id="5" name="Footer Placeholder 4">
            <a:extLst>
              <a:ext uri="{FF2B5EF4-FFF2-40B4-BE49-F238E27FC236}">
                <a16:creationId xmlns:a16="http://schemas.microsoft.com/office/drawing/2014/main" id="{F1D31D60-DBBC-6070-956F-6F0E10E79D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C224B3D-DC2C-8239-A9B9-B1F3E0B4E1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E0CA84C-67B4-4EC6-9E5B-76DEBE35063B}" type="slidenum">
              <a:rPr lang="en-US" smtClean="0"/>
              <a:t>‹#›</a:t>
            </a:fld>
            <a:endParaRPr lang="en-US"/>
          </a:p>
        </p:txBody>
      </p:sp>
    </p:spTree>
    <p:extLst>
      <p:ext uri="{BB962C8B-B14F-4D97-AF65-F5344CB8AC3E}">
        <p14:creationId xmlns:p14="http://schemas.microsoft.com/office/powerpoint/2010/main" val="9334296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43D12B0-FB76-DDF3-F0EB-87138A09F484}"/>
              </a:ext>
            </a:extLst>
          </p:cNvPr>
          <p:cNvPicPr>
            <a:picLocks noChangeAspect="1"/>
          </p:cNvPicPr>
          <p:nvPr/>
        </p:nvPicPr>
        <p:blipFill>
          <a:blip r:embed="rId2"/>
          <a:stretch>
            <a:fillRect/>
          </a:stretch>
        </p:blipFill>
        <p:spPr>
          <a:xfrm>
            <a:off x="377816" y="398229"/>
            <a:ext cx="5038165" cy="3030771"/>
          </a:xfrm>
          <a:prstGeom prst="rect">
            <a:avLst/>
          </a:prstGeom>
        </p:spPr>
      </p:pic>
      <p:sp>
        <p:nvSpPr>
          <p:cNvPr id="6" name="TextBox 5">
            <a:extLst>
              <a:ext uri="{FF2B5EF4-FFF2-40B4-BE49-F238E27FC236}">
                <a16:creationId xmlns:a16="http://schemas.microsoft.com/office/drawing/2014/main" id="{5312E8BE-F5B1-33FB-C51B-21615F846BD7}"/>
              </a:ext>
            </a:extLst>
          </p:cNvPr>
          <p:cNvSpPr txBox="1"/>
          <p:nvPr/>
        </p:nvSpPr>
        <p:spPr>
          <a:xfrm>
            <a:off x="138428" y="56967"/>
            <a:ext cx="3906711" cy="369332"/>
          </a:xfrm>
          <a:prstGeom prst="rect">
            <a:avLst/>
          </a:prstGeom>
          <a:noFill/>
        </p:spPr>
        <p:txBody>
          <a:bodyPr wrap="none" rtlCol="0">
            <a:spAutoFit/>
          </a:bodyPr>
          <a:lstStyle/>
          <a:p>
            <a:r>
              <a:rPr lang="en-US" dirty="0"/>
              <a:t>Prototypical Small Office   20,000 </a:t>
            </a:r>
            <a:r>
              <a:rPr lang="en-US" dirty="0" err="1"/>
              <a:t>sqft</a:t>
            </a:r>
            <a:endParaRPr lang="en-US" dirty="0"/>
          </a:p>
        </p:txBody>
      </p:sp>
      <p:pic>
        <p:nvPicPr>
          <p:cNvPr id="8" name="Picture 7">
            <a:extLst>
              <a:ext uri="{FF2B5EF4-FFF2-40B4-BE49-F238E27FC236}">
                <a16:creationId xmlns:a16="http://schemas.microsoft.com/office/drawing/2014/main" id="{57FB5EA5-3C5D-B8E6-7073-BF758C7515FE}"/>
              </a:ext>
            </a:extLst>
          </p:cNvPr>
          <p:cNvPicPr>
            <a:picLocks noChangeAspect="1"/>
          </p:cNvPicPr>
          <p:nvPr/>
        </p:nvPicPr>
        <p:blipFill>
          <a:blip r:embed="rId3"/>
          <a:stretch>
            <a:fillRect/>
          </a:stretch>
        </p:blipFill>
        <p:spPr>
          <a:xfrm>
            <a:off x="273494" y="3934599"/>
            <a:ext cx="5038165" cy="2866434"/>
          </a:xfrm>
          <a:prstGeom prst="rect">
            <a:avLst/>
          </a:prstGeom>
        </p:spPr>
      </p:pic>
      <p:pic>
        <p:nvPicPr>
          <p:cNvPr id="9" name="Picture 8">
            <a:extLst>
              <a:ext uri="{FF2B5EF4-FFF2-40B4-BE49-F238E27FC236}">
                <a16:creationId xmlns:a16="http://schemas.microsoft.com/office/drawing/2014/main" id="{5A3ACF6F-84AF-9D04-51B5-065E19278B23}"/>
              </a:ext>
            </a:extLst>
          </p:cNvPr>
          <p:cNvPicPr>
            <a:picLocks noChangeAspect="1"/>
          </p:cNvPicPr>
          <p:nvPr/>
        </p:nvPicPr>
        <p:blipFill>
          <a:blip r:embed="rId4"/>
          <a:stretch>
            <a:fillRect/>
          </a:stretch>
        </p:blipFill>
        <p:spPr>
          <a:xfrm>
            <a:off x="5880851" y="938524"/>
            <a:ext cx="5933333" cy="4980952"/>
          </a:xfrm>
          <a:prstGeom prst="rect">
            <a:avLst/>
          </a:prstGeom>
        </p:spPr>
      </p:pic>
    </p:spTree>
    <p:extLst>
      <p:ext uri="{BB962C8B-B14F-4D97-AF65-F5344CB8AC3E}">
        <p14:creationId xmlns:p14="http://schemas.microsoft.com/office/powerpoint/2010/main" val="2997774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F9CEE6B-E2B3-7437-A978-A570094BB121}"/>
              </a:ext>
            </a:extLst>
          </p:cNvPr>
          <p:cNvSpPr txBox="1"/>
          <p:nvPr/>
        </p:nvSpPr>
        <p:spPr>
          <a:xfrm>
            <a:off x="115614" y="247943"/>
            <a:ext cx="2943434" cy="646331"/>
          </a:xfrm>
          <a:prstGeom prst="rect">
            <a:avLst/>
          </a:prstGeom>
          <a:noFill/>
        </p:spPr>
        <p:txBody>
          <a:bodyPr wrap="none" rtlCol="0">
            <a:spAutoFit/>
          </a:bodyPr>
          <a:lstStyle/>
          <a:p>
            <a:r>
              <a:rPr lang="en-US" dirty="0"/>
              <a:t>Baseline AEDG Small Office</a:t>
            </a:r>
          </a:p>
          <a:p>
            <a:r>
              <a:rPr lang="en-US" dirty="0"/>
              <a:t>Typical office layout</a:t>
            </a:r>
          </a:p>
        </p:txBody>
      </p:sp>
      <p:grpSp>
        <p:nvGrpSpPr>
          <p:cNvPr id="39" name="Group 38">
            <a:extLst>
              <a:ext uri="{FF2B5EF4-FFF2-40B4-BE49-F238E27FC236}">
                <a16:creationId xmlns:a16="http://schemas.microsoft.com/office/drawing/2014/main" id="{CC380AF4-7CBB-92C3-838E-03E2E227B59D}"/>
              </a:ext>
            </a:extLst>
          </p:cNvPr>
          <p:cNvGrpSpPr/>
          <p:nvPr/>
        </p:nvGrpSpPr>
        <p:grpSpPr>
          <a:xfrm>
            <a:off x="4837471" y="257775"/>
            <a:ext cx="6868034" cy="3657000"/>
            <a:chOff x="4837471" y="257775"/>
            <a:chExt cx="6868034" cy="3657000"/>
          </a:xfrm>
        </p:grpSpPr>
        <p:pic>
          <p:nvPicPr>
            <p:cNvPr id="33" name="Picture 32">
              <a:extLst>
                <a:ext uri="{FF2B5EF4-FFF2-40B4-BE49-F238E27FC236}">
                  <a16:creationId xmlns:a16="http://schemas.microsoft.com/office/drawing/2014/main" id="{D4678882-4D61-50C0-ACEE-359D0E1008E6}"/>
                </a:ext>
              </a:extLst>
            </p:cNvPr>
            <p:cNvPicPr>
              <a:picLocks noChangeAspect="1"/>
            </p:cNvPicPr>
            <p:nvPr/>
          </p:nvPicPr>
          <p:blipFill>
            <a:blip r:embed="rId2"/>
            <a:stretch>
              <a:fillRect/>
            </a:stretch>
          </p:blipFill>
          <p:spPr>
            <a:xfrm>
              <a:off x="4837471" y="257775"/>
              <a:ext cx="6868034" cy="3657000"/>
            </a:xfrm>
            <a:prstGeom prst="rect">
              <a:avLst/>
            </a:prstGeom>
          </p:spPr>
        </p:pic>
        <p:sp>
          <p:nvSpPr>
            <p:cNvPr id="4" name="TextBox 3">
              <a:extLst>
                <a:ext uri="{FF2B5EF4-FFF2-40B4-BE49-F238E27FC236}">
                  <a16:creationId xmlns:a16="http://schemas.microsoft.com/office/drawing/2014/main" id="{9D913AE8-364A-7898-E18D-665C031A63D9}"/>
                </a:ext>
              </a:extLst>
            </p:cNvPr>
            <p:cNvSpPr txBox="1"/>
            <p:nvPr/>
          </p:nvSpPr>
          <p:spPr>
            <a:xfrm>
              <a:off x="5768661" y="1715554"/>
              <a:ext cx="917239" cy="261610"/>
            </a:xfrm>
            <a:prstGeom prst="rect">
              <a:avLst/>
            </a:prstGeom>
            <a:noFill/>
          </p:spPr>
          <p:txBody>
            <a:bodyPr wrap="none" rtlCol="0">
              <a:spAutoFit/>
            </a:bodyPr>
            <a:lstStyle/>
            <a:p>
              <a:r>
                <a:rPr lang="en-US" sz="1100" dirty="0"/>
                <a:t>Open Office</a:t>
              </a:r>
            </a:p>
          </p:txBody>
        </p:sp>
        <p:sp>
          <p:nvSpPr>
            <p:cNvPr id="6" name="TextBox 5">
              <a:extLst>
                <a:ext uri="{FF2B5EF4-FFF2-40B4-BE49-F238E27FC236}">
                  <a16:creationId xmlns:a16="http://schemas.microsoft.com/office/drawing/2014/main" id="{F16B87FB-318E-5EF9-59DC-E14CCBE91E45}"/>
                </a:ext>
              </a:extLst>
            </p:cNvPr>
            <p:cNvSpPr txBox="1"/>
            <p:nvPr/>
          </p:nvSpPr>
          <p:spPr>
            <a:xfrm>
              <a:off x="5731591" y="1389712"/>
              <a:ext cx="1003801" cy="261610"/>
            </a:xfrm>
            <a:prstGeom prst="rect">
              <a:avLst/>
            </a:prstGeom>
            <a:noFill/>
          </p:spPr>
          <p:txBody>
            <a:bodyPr wrap="none" rtlCol="0">
              <a:spAutoFit/>
            </a:bodyPr>
            <a:lstStyle/>
            <a:p>
              <a:r>
                <a:rPr lang="en-US" sz="1100" dirty="0"/>
                <a:t>Private Office</a:t>
              </a:r>
            </a:p>
          </p:txBody>
        </p:sp>
        <p:sp>
          <p:nvSpPr>
            <p:cNvPr id="12" name="TextBox 11">
              <a:extLst>
                <a:ext uri="{FF2B5EF4-FFF2-40B4-BE49-F238E27FC236}">
                  <a16:creationId xmlns:a16="http://schemas.microsoft.com/office/drawing/2014/main" id="{21CB820B-8CF6-C974-BE5C-7E87BCD8F0C7}"/>
                </a:ext>
              </a:extLst>
            </p:cNvPr>
            <p:cNvSpPr txBox="1"/>
            <p:nvPr/>
          </p:nvSpPr>
          <p:spPr>
            <a:xfrm>
              <a:off x="6725560" y="3224746"/>
              <a:ext cx="554960" cy="261610"/>
            </a:xfrm>
            <a:prstGeom prst="rect">
              <a:avLst/>
            </a:prstGeom>
            <a:noFill/>
          </p:spPr>
          <p:txBody>
            <a:bodyPr wrap="none" rtlCol="0">
              <a:spAutoFit/>
            </a:bodyPr>
            <a:lstStyle/>
            <a:p>
              <a:r>
                <a:rPr lang="en-US" sz="1100" dirty="0"/>
                <a:t>Lobby</a:t>
              </a:r>
            </a:p>
          </p:txBody>
        </p:sp>
        <p:sp>
          <p:nvSpPr>
            <p:cNvPr id="18" name="TextBox 17">
              <a:extLst>
                <a:ext uri="{FF2B5EF4-FFF2-40B4-BE49-F238E27FC236}">
                  <a16:creationId xmlns:a16="http://schemas.microsoft.com/office/drawing/2014/main" id="{DF8E2F53-2DC8-CFB7-4126-0DC5CC6DBC43}"/>
                </a:ext>
              </a:extLst>
            </p:cNvPr>
            <p:cNvSpPr txBox="1"/>
            <p:nvPr/>
          </p:nvSpPr>
          <p:spPr>
            <a:xfrm>
              <a:off x="5714073" y="3234344"/>
              <a:ext cx="902811" cy="261610"/>
            </a:xfrm>
            <a:prstGeom prst="rect">
              <a:avLst/>
            </a:prstGeom>
            <a:noFill/>
          </p:spPr>
          <p:txBody>
            <a:bodyPr wrap="none" rtlCol="0">
              <a:spAutoFit/>
            </a:bodyPr>
            <a:lstStyle/>
            <a:p>
              <a:r>
                <a:rPr lang="en-US" sz="1100" dirty="0"/>
                <a:t>Conference</a:t>
              </a:r>
            </a:p>
          </p:txBody>
        </p:sp>
        <p:sp>
          <p:nvSpPr>
            <p:cNvPr id="19" name="TextBox 18">
              <a:extLst>
                <a:ext uri="{FF2B5EF4-FFF2-40B4-BE49-F238E27FC236}">
                  <a16:creationId xmlns:a16="http://schemas.microsoft.com/office/drawing/2014/main" id="{DD97FF97-2E35-25B5-EBE9-A4B50D2C9202}"/>
                </a:ext>
              </a:extLst>
            </p:cNvPr>
            <p:cNvSpPr txBox="1"/>
            <p:nvPr/>
          </p:nvSpPr>
          <p:spPr>
            <a:xfrm rot="16200000">
              <a:off x="6911459" y="1945638"/>
              <a:ext cx="691215" cy="261610"/>
            </a:xfrm>
            <a:prstGeom prst="rect">
              <a:avLst/>
            </a:prstGeom>
            <a:noFill/>
          </p:spPr>
          <p:txBody>
            <a:bodyPr wrap="none" rtlCol="0">
              <a:spAutoFit/>
            </a:bodyPr>
            <a:lstStyle/>
            <a:p>
              <a:r>
                <a:rPr lang="en-US" sz="1100" dirty="0"/>
                <a:t>Corridor</a:t>
              </a:r>
            </a:p>
          </p:txBody>
        </p:sp>
        <p:sp>
          <p:nvSpPr>
            <p:cNvPr id="20" name="TextBox 19">
              <a:extLst>
                <a:ext uri="{FF2B5EF4-FFF2-40B4-BE49-F238E27FC236}">
                  <a16:creationId xmlns:a16="http://schemas.microsoft.com/office/drawing/2014/main" id="{A9D05FDB-E5C6-5BEA-E3A0-39970846223B}"/>
                </a:ext>
              </a:extLst>
            </p:cNvPr>
            <p:cNvSpPr txBox="1"/>
            <p:nvPr/>
          </p:nvSpPr>
          <p:spPr>
            <a:xfrm>
              <a:off x="7477668" y="1229448"/>
              <a:ext cx="633507" cy="261610"/>
            </a:xfrm>
            <a:prstGeom prst="rect">
              <a:avLst/>
            </a:prstGeom>
            <a:noFill/>
          </p:spPr>
          <p:txBody>
            <a:bodyPr wrap="none" rtlCol="0">
              <a:spAutoFit/>
            </a:bodyPr>
            <a:lstStyle/>
            <a:p>
              <a:r>
                <a:rPr lang="en-US" sz="1100" dirty="0"/>
                <a:t>Lounge</a:t>
              </a:r>
            </a:p>
          </p:txBody>
        </p:sp>
        <p:sp>
          <p:nvSpPr>
            <p:cNvPr id="21" name="TextBox 20">
              <a:extLst>
                <a:ext uri="{FF2B5EF4-FFF2-40B4-BE49-F238E27FC236}">
                  <a16:creationId xmlns:a16="http://schemas.microsoft.com/office/drawing/2014/main" id="{46FA4F61-EA78-E359-08E4-92781A4A2C1F}"/>
                </a:ext>
              </a:extLst>
            </p:cNvPr>
            <p:cNvSpPr txBox="1"/>
            <p:nvPr/>
          </p:nvSpPr>
          <p:spPr>
            <a:xfrm>
              <a:off x="7567192" y="1728860"/>
              <a:ext cx="476412" cy="261610"/>
            </a:xfrm>
            <a:prstGeom prst="rect">
              <a:avLst/>
            </a:prstGeom>
            <a:noFill/>
          </p:spPr>
          <p:txBody>
            <a:bodyPr wrap="none" rtlCol="0">
              <a:spAutoFit/>
            </a:bodyPr>
            <a:lstStyle/>
            <a:p>
              <a:r>
                <a:rPr lang="en-US" sz="1100" dirty="0"/>
                <a:t>Data</a:t>
              </a:r>
            </a:p>
          </p:txBody>
        </p:sp>
        <p:sp>
          <p:nvSpPr>
            <p:cNvPr id="22" name="TextBox 21">
              <a:extLst>
                <a:ext uri="{FF2B5EF4-FFF2-40B4-BE49-F238E27FC236}">
                  <a16:creationId xmlns:a16="http://schemas.microsoft.com/office/drawing/2014/main" id="{487D4A51-EE79-B0F4-86C2-6DA6B4EF99E0}"/>
                </a:ext>
              </a:extLst>
            </p:cNvPr>
            <p:cNvSpPr txBox="1"/>
            <p:nvPr/>
          </p:nvSpPr>
          <p:spPr>
            <a:xfrm rot="16200000">
              <a:off x="7383101" y="2272042"/>
              <a:ext cx="780983" cy="261610"/>
            </a:xfrm>
            <a:prstGeom prst="rect">
              <a:avLst/>
            </a:prstGeom>
            <a:noFill/>
          </p:spPr>
          <p:txBody>
            <a:bodyPr wrap="none" rtlCol="0">
              <a:spAutoFit/>
            </a:bodyPr>
            <a:lstStyle/>
            <a:p>
              <a:r>
                <a:rPr lang="en-US" sz="1100" dirty="0"/>
                <a:t>Restroom</a:t>
              </a:r>
            </a:p>
          </p:txBody>
        </p:sp>
        <p:sp>
          <p:nvSpPr>
            <p:cNvPr id="23" name="TextBox 22">
              <a:extLst>
                <a:ext uri="{FF2B5EF4-FFF2-40B4-BE49-F238E27FC236}">
                  <a16:creationId xmlns:a16="http://schemas.microsoft.com/office/drawing/2014/main" id="{F8526BF7-3BDE-3BDB-CABC-D7B49735B291}"/>
                </a:ext>
              </a:extLst>
            </p:cNvPr>
            <p:cNvSpPr txBox="1"/>
            <p:nvPr/>
          </p:nvSpPr>
          <p:spPr>
            <a:xfrm>
              <a:off x="8232002" y="2711839"/>
              <a:ext cx="705642" cy="261610"/>
            </a:xfrm>
            <a:prstGeom prst="rect">
              <a:avLst/>
            </a:prstGeom>
            <a:noFill/>
          </p:spPr>
          <p:txBody>
            <a:bodyPr wrap="none" rtlCol="0">
              <a:spAutoFit/>
            </a:bodyPr>
            <a:lstStyle/>
            <a:p>
              <a:r>
                <a:rPr lang="en-US" sz="1100" dirty="0"/>
                <a:t>Stairway</a:t>
              </a:r>
            </a:p>
          </p:txBody>
        </p:sp>
        <p:sp>
          <p:nvSpPr>
            <p:cNvPr id="24" name="TextBox 23">
              <a:extLst>
                <a:ext uri="{FF2B5EF4-FFF2-40B4-BE49-F238E27FC236}">
                  <a16:creationId xmlns:a16="http://schemas.microsoft.com/office/drawing/2014/main" id="{4EBF4CD1-52A3-8C98-5A32-C42F24AB7DA0}"/>
                </a:ext>
              </a:extLst>
            </p:cNvPr>
            <p:cNvSpPr txBox="1"/>
            <p:nvPr/>
          </p:nvSpPr>
          <p:spPr>
            <a:xfrm>
              <a:off x="8258451" y="1224262"/>
              <a:ext cx="652743" cy="261610"/>
            </a:xfrm>
            <a:prstGeom prst="rect">
              <a:avLst/>
            </a:prstGeom>
            <a:noFill/>
          </p:spPr>
          <p:txBody>
            <a:bodyPr wrap="none" rtlCol="0">
              <a:spAutoFit/>
            </a:bodyPr>
            <a:lstStyle/>
            <a:p>
              <a:r>
                <a:rPr lang="en-US" sz="1100" dirty="0"/>
                <a:t>Storage</a:t>
              </a:r>
            </a:p>
          </p:txBody>
        </p:sp>
        <p:sp>
          <p:nvSpPr>
            <p:cNvPr id="25" name="TextBox 24">
              <a:extLst>
                <a:ext uri="{FF2B5EF4-FFF2-40B4-BE49-F238E27FC236}">
                  <a16:creationId xmlns:a16="http://schemas.microsoft.com/office/drawing/2014/main" id="{819CB78A-2C1F-3301-8E81-827D7A6BAABD}"/>
                </a:ext>
              </a:extLst>
            </p:cNvPr>
            <p:cNvSpPr txBox="1"/>
            <p:nvPr/>
          </p:nvSpPr>
          <p:spPr>
            <a:xfrm>
              <a:off x="8046855" y="1958246"/>
              <a:ext cx="1075936" cy="261610"/>
            </a:xfrm>
            <a:prstGeom prst="rect">
              <a:avLst/>
            </a:prstGeom>
            <a:noFill/>
          </p:spPr>
          <p:txBody>
            <a:bodyPr wrap="none" rtlCol="0">
              <a:spAutoFit/>
            </a:bodyPr>
            <a:lstStyle/>
            <a:p>
              <a:r>
                <a:rPr lang="en-US" sz="1100" dirty="0"/>
                <a:t>Mech and Elec</a:t>
              </a:r>
            </a:p>
          </p:txBody>
        </p:sp>
        <p:sp>
          <p:nvSpPr>
            <p:cNvPr id="26" name="TextBox 25">
              <a:extLst>
                <a:ext uri="{FF2B5EF4-FFF2-40B4-BE49-F238E27FC236}">
                  <a16:creationId xmlns:a16="http://schemas.microsoft.com/office/drawing/2014/main" id="{550F2EB4-8A5E-E19D-F5ED-ED6AA187E1D9}"/>
                </a:ext>
              </a:extLst>
            </p:cNvPr>
            <p:cNvSpPr txBox="1"/>
            <p:nvPr/>
          </p:nvSpPr>
          <p:spPr>
            <a:xfrm>
              <a:off x="7427975" y="2793339"/>
              <a:ext cx="683200" cy="261610"/>
            </a:xfrm>
            <a:prstGeom prst="rect">
              <a:avLst/>
            </a:prstGeom>
            <a:noFill/>
          </p:spPr>
          <p:txBody>
            <a:bodyPr wrap="none" rtlCol="0">
              <a:spAutoFit/>
            </a:bodyPr>
            <a:lstStyle/>
            <a:p>
              <a:r>
                <a:rPr lang="en-US" sz="1100" dirty="0"/>
                <a:t>Elevator</a:t>
              </a:r>
            </a:p>
          </p:txBody>
        </p:sp>
        <p:sp>
          <p:nvSpPr>
            <p:cNvPr id="27" name="TextBox 26">
              <a:extLst>
                <a:ext uri="{FF2B5EF4-FFF2-40B4-BE49-F238E27FC236}">
                  <a16:creationId xmlns:a16="http://schemas.microsoft.com/office/drawing/2014/main" id="{11353B69-0B3C-B5A7-F328-B468417458A4}"/>
                </a:ext>
              </a:extLst>
            </p:cNvPr>
            <p:cNvSpPr txBox="1"/>
            <p:nvPr/>
          </p:nvSpPr>
          <p:spPr>
            <a:xfrm rot="16200000">
              <a:off x="9047195" y="1926848"/>
              <a:ext cx="691215" cy="261610"/>
            </a:xfrm>
            <a:prstGeom prst="rect">
              <a:avLst/>
            </a:prstGeom>
            <a:noFill/>
          </p:spPr>
          <p:txBody>
            <a:bodyPr wrap="none" rtlCol="0">
              <a:spAutoFit/>
            </a:bodyPr>
            <a:lstStyle/>
            <a:p>
              <a:r>
                <a:rPr lang="en-US" sz="1100" dirty="0"/>
                <a:t>Corridor</a:t>
              </a:r>
            </a:p>
          </p:txBody>
        </p:sp>
        <p:sp>
          <p:nvSpPr>
            <p:cNvPr id="28" name="TextBox 27">
              <a:extLst>
                <a:ext uri="{FF2B5EF4-FFF2-40B4-BE49-F238E27FC236}">
                  <a16:creationId xmlns:a16="http://schemas.microsoft.com/office/drawing/2014/main" id="{EC26F767-B412-FAC0-E6CA-5640DBEC716B}"/>
                </a:ext>
              </a:extLst>
            </p:cNvPr>
            <p:cNvSpPr txBox="1"/>
            <p:nvPr/>
          </p:nvSpPr>
          <p:spPr>
            <a:xfrm>
              <a:off x="8346930" y="665853"/>
              <a:ext cx="554960" cy="261610"/>
            </a:xfrm>
            <a:prstGeom prst="rect">
              <a:avLst/>
            </a:prstGeom>
            <a:noFill/>
          </p:spPr>
          <p:txBody>
            <a:bodyPr wrap="none" rtlCol="0">
              <a:spAutoFit/>
            </a:bodyPr>
            <a:lstStyle/>
            <a:p>
              <a:r>
                <a:rPr lang="en-US" sz="1100" dirty="0"/>
                <a:t>Lobby</a:t>
              </a:r>
            </a:p>
          </p:txBody>
        </p:sp>
        <p:sp>
          <p:nvSpPr>
            <p:cNvPr id="29" name="TextBox 28">
              <a:extLst>
                <a:ext uri="{FF2B5EF4-FFF2-40B4-BE49-F238E27FC236}">
                  <a16:creationId xmlns:a16="http://schemas.microsoft.com/office/drawing/2014/main" id="{12D76975-16E4-D007-E507-F071481ACA7D}"/>
                </a:ext>
              </a:extLst>
            </p:cNvPr>
            <p:cNvSpPr txBox="1"/>
            <p:nvPr/>
          </p:nvSpPr>
          <p:spPr>
            <a:xfrm>
              <a:off x="9939923" y="674209"/>
              <a:ext cx="902811" cy="261610"/>
            </a:xfrm>
            <a:prstGeom prst="rect">
              <a:avLst/>
            </a:prstGeom>
            <a:noFill/>
          </p:spPr>
          <p:txBody>
            <a:bodyPr wrap="none" rtlCol="0">
              <a:spAutoFit/>
            </a:bodyPr>
            <a:lstStyle/>
            <a:p>
              <a:r>
                <a:rPr lang="en-US" sz="1100" dirty="0"/>
                <a:t>Conference</a:t>
              </a:r>
            </a:p>
          </p:txBody>
        </p:sp>
        <p:sp>
          <p:nvSpPr>
            <p:cNvPr id="30" name="TextBox 29">
              <a:extLst>
                <a:ext uri="{FF2B5EF4-FFF2-40B4-BE49-F238E27FC236}">
                  <a16:creationId xmlns:a16="http://schemas.microsoft.com/office/drawing/2014/main" id="{E869B05E-88C8-30F6-513A-25A3B4C099F2}"/>
                </a:ext>
              </a:extLst>
            </p:cNvPr>
            <p:cNvSpPr txBox="1"/>
            <p:nvPr/>
          </p:nvSpPr>
          <p:spPr>
            <a:xfrm>
              <a:off x="9889427" y="2443202"/>
              <a:ext cx="1003801" cy="261610"/>
            </a:xfrm>
            <a:prstGeom prst="rect">
              <a:avLst/>
            </a:prstGeom>
            <a:noFill/>
          </p:spPr>
          <p:txBody>
            <a:bodyPr wrap="none" rtlCol="0">
              <a:spAutoFit/>
            </a:bodyPr>
            <a:lstStyle/>
            <a:p>
              <a:r>
                <a:rPr lang="en-US" sz="1100" dirty="0"/>
                <a:t>Private Office</a:t>
              </a:r>
            </a:p>
          </p:txBody>
        </p:sp>
        <p:sp>
          <p:nvSpPr>
            <p:cNvPr id="31" name="TextBox 30">
              <a:extLst>
                <a:ext uri="{FF2B5EF4-FFF2-40B4-BE49-F238E27FC236}">
                  <a16:creationId xmlns:a16="http://schemas.microsoft.com/office/drawing/2014/main" id="{7FB0297C-E2AD-D5AF-B6AB-B1B8D7CF25BE}"/>
                </a:ext>
              </a:extLst>
            </p:cNvPr>
            <p:cNvSpPr txBox="1"/>
            <p:nvPr/>
          </p:nvSpPr>
          <p:spPr>
            <a:xfrm>
              <a:off x="9939923" y="2219856"/>
              <a:ext cx="917239" cy="261610"/>
            </a:xfrm>
            <a:prstGeom prst="rect">
              <a:avLst/>
            </a:prstGeom>
            <a:noFill/>
          </p:spPr>
          <p:txBody>
            <a:bodyPr wrap="none" rtlCol="0">
              <a:spAutoFit/>
            </a:bodyPr>
            <a:lstStyle/>
            <a:p>
              <a:r>
                <a:rPr lang="en-US" sz="1100" dirty="0"/>
                <a:t>Open Office</a:t>
              </a:r>
            </a:p>
          </p:txBody>
        </p:sp>
      </p:grpSp>
      <p:sp>
        <p:nvSpPr>
          <p:cNvPr id="36" name="Rectangle 1">
            <a:extLst>
              <a:ext uri="{FF2B5EF4-FFF2-40B4-BE49-F238E27FC236}">
                <a16:creationId xmlns:a16="http://schemas.microsoft.com/office/drawing/2014/main" id="{8EA1375A-00AC-AB0F-9480-5E0C4FBB8FB9}"/>
              </a:ext>
            </a:extLst>
          </p:cNvPr>
          <p:cNvSpPr>
            <a:spLocks noChangeArrowheads="1"/>
          </p:cNvSpPr>
          <p:nvPr/>
        </p:nvSpPr>
        <p:spPr bwMode="auto">
          <a:xfrm>
            <a:off x="153132" y="1161425"/>
            <a:ext cx="3184561" cy="5001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60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Lobby</a:t>
            </a:r>
            <a:r>
              <a:rPr kumimoji="0" lang="en-US" altLang="en-US" sz="1100" b="0" i="0" u="none" strike="noStrike" cap="none" normalizeH="0" baseline="0" dirty="0">
                <a:ln>
                  <a:noFill/>
                </a:ln>
                <a:solidFill>
                  <a:schemeClr val="tx1"/>
                </a:solidFill>
                <a:effectLst/>
                <a:latin typeface="Arial" panose="020B0604020202020204" pitchFamily="34" charset="0"/>
              </a:rPr>
              <a:t> – Welcoming area for visitors and staff; transition from exterior to office zones.</a:t>
            </a:r>
          </a:p>
          <a:p>
            <a:pPr marL="0" marR="0" lvl="0" indent="0" algn="l" defTabSz="914400" rtl="0" eaLnBrk="0" fontAlgn="base" latinLnBrk="0" hangingPunct="0">
              <a:lnSpc>
                <a:spcPct val="100000"/>
              </a:lnSpc>
              <a:spcBef>
                <a:spcPct val="0"/>
              </a:spcBef>
              <a:spcAft>
                <a:spcPts val="60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Conference Room</a:t>
            </a:r>
            <a:r>
              <a:rPr kumimoji="0" lang="en-US" altLang="en-US" sz="1100" b="0" i="0" u="none" strike="noStrike" cap="none" normalizeH="0" baseline="0" dirty="0">
                <a:ln>
                  <a:noFill/>
                </a:ln>
                <a:solidFill>
                  <a:schemeClr val="tx1"/>
                </a:solidFill>
                <a:effectLst/>
                <a:latin typeface="Arial" panose="020B0604020202020204" pitchFamily="34" charset="0"/>
              </a:rPr>
              <a:t> – Enclosed meeting space for collaboration, equipped with AV systems.</a:t>
            </a:r>
          </a:p>
          <a:p>
            <a:pPr marL="0" marR="0" lvl="0" indent="0" algn="l" defTabSz="914400" rtl="0" eaLnBrk="0" fontAlgn="base" latinLnBrk="0" hangingPunct="0">
              <a:lnSpc>
                <a:spcPct val="100000"/>
              </a:lnSpc>
              <a:spcBef>
                <a:spcPct val="0"/>
              </a:spcBef>
              <a:spcAft>
                <a:spcPts val="60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Private Office</a:t>
            </a:r>
            <a:r>
              <a:rPr kumimoji="0" lang="en-US" altLang="en-US" sz="1100" b="0" i="0" u="none" strike="noStrike" cap="none" normalizeH="0" baseline="0" dirty="0">
                <a:ln>
                  <a:noFill/>
                </a:ln>
                <a:solidFill>
                  <a:schemeClr val="tx1"/>
                </a:solidFill>
                <a:effectLst/>
                <a:latin typeface="Arial" panose="020B0604020202020204" pitchFamily="34" charset="0"/>
              </a:rPr>
              <a:t> – Individual workspace for focused tasks or confidential discussions.</a:t>
            </a:r>
          </a:p>
          <a:p>
            <a:pPr marL="0" marR="0" lvl="0" indent="0" algn="l" defTabSz="914400" rtl="0" eaLnBrk="0" fontAlgn="base" latinLnBrk="0" hangingPunct="0">
              <a:lnSpc>
                <a:spcPct val="100000"/>
              </a:lnSpc>
              <a:spcBef>
                <a:spcPct val="0"/>
              </a:spcBef>
              <a:spcAft>
                <a:spcPts val="60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Open Office</a:t>
            </a:r>
            <a:r>
              <a:rPr kumimoji="0" lang="en-US" altLang="en-US" sz="1100" b="0" i="0" u="none" strike="noStrike" cap="none" normalizeH="0" baseline="0" dirty="0">
                <a:ln>
                  <a:noFill/>
                </a:ln>
                <a:solidFill>
                  <a:schemeClr val="tx1"/>
                </a:solidFill>
                <a:effectLst/>
                <a:latin typeface="Arial" panose="020B0604020202020204" pitchFamily="34" charset="0"/>
              </a:rPr>
              <a:t> – Shared workstation area promoting communication and flexibility.</a:t>
            </a:r>
          </a:p>
          <a:p>
            <a:pPr marL="0" marR="0" lvl="0" indent="0" algn="l" defTabSz="914400" rtl="0" eaLnBrk="0" fontAlgn="base" latinLnBrk="0" hangingPunct="0">
              <a:lnSpc>
                <a:spcPct val="100000"/>
              </a:lnSpc>
              <a:spcBef>
                <a:spcPct val="0"/>
              </a:spcBef>
              <a:spcAft>
                <a:spcPts val="60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Lounge</a:t>
            </a:r>
            <a:r>
              <a:rPr kumimoji="0" lang="en-US" altLang="en-US" sz="1100" b="0" i="0" u="none" strike="noStrike" cap="none" normalizeH="0" baseline="0" dirty="0">
                <a:ln>
                  <a:noFill/>
                </a:ln>
                <a:solidFill>
                  <a:schemeClr val="tx1"/>
                </a:solidFill>
                <a:effectLst/>
                <a:latin typeface="Arial" panose="020B0604020202020204" pitchFamily="34" charset="0"/>
              </a:rPr>
              <a:t> – Informal break and social area to encourage occupant comfort and interaction.</a:t>
            </a:r>
          </a:p>
          <a:p>
            <a:pPr marL="0" marR="0" lvl="0" indent="0" algn="l" defTabSz="914400" rtl="0" eaLnBrk="0" fontAlgn="base" latinLnBrk="0" hangingPunct="0">
              <a:lnSpc>
                <a:spcPct val="100000"/>
              </a:lnSpc>
              <a:spcBef>
                <a:spcPct val="0"/>
              </a:spcBef>
              <a:spcAft>
                <a:spcPts val="60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Storage</a:t>
            </a:r>
            <a:r>
              <a:rPr kumimoji="0" lang="en-US" altLang="en-US" sz="1100" b="0" i="0" u="none" strike="noStrike" cap="none" normalizeH="0" baseline="0" dirty="0">
                <a:ln>
                  <a:noFill/>
                </a:ln>
                <a:solidFill>
                  <a:schemeClr val="tx1"/>
                </a:solidFill>
                <a:effectLst/>
                <a:latin typeface="Arial" panose="020B0604020202020204" pitchFamily="34" charset="0"/>
              </a:rPr>
              <a:t> – Secured space for supplies, files, and building maintenance items.</a:t>
            </a:r>
          </a:p>
          <a:p>
            <a:pPr marL="0" marR="0" lvl="0" indent="0" algn="l" defTabSz="914400" rtl="0" eaLnBrk="0" fontAlgn="base" latinLnBrk="0" hangingPunct="0">
              <a:lnSpc>
                <a:spcPct val="100000"/>
              </a:lnSpc>
              <a:spcBef>
                <a:spcPct val="0"/>
              </a:spcBef>
              <a:spcAft>
                <a:spcPts val="60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Data Room</a:t>
            </a:r>
            <a:r>
              <a:rPr kumimoji="0" lang="en-US" altLang="en-US" sz="1100" b="0" i="0" u="none" strike="noStrike" cap="none" normalizeH="0" baseline="0" dirty="0">
                <a:ln>
                  <a:noFill/>
                </a:ln>
                <a:solidFill>
                  <a:schemeClr val="tx1"/>
                </a:solidFill>
                <a:effectLst/>
                <a:latin typeface="Arial" panose="020B0604020202020204" pitchFamily="34" charset="0"/>
              </a:rPr>
              <a:t> – Climate-controlled area housing IT and network equipment.</a:t>
            </a:r>
          </a:p>
          <a:p>
            <a:pPr marL="0" marR="0" lvl="0" indent="0" algn="l" defTabSz="914400" rtl="0" eaLnBrk="0" fontAlgn="base" latinLnBrk="0" hangingPunct="0">
              <a:lnSpc>
                <a:spcPct val="100000"/>
              </a:lnSpc>
              <a:spcBef>
                <a:spcPct val="0"/>
              </a:spcBef>
              <a:spcAft>
                <a:spcPts val="60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Restroom</a:t>
            </a:r>
            <a:r>
              <a:rPr kumimoji="0" lang="en-US" altLang="en-US" sz="1100" b="0" i="0" u="none" strike="noStrike" cap="none" normalizeH="0" baseline="0" dirty="0">
                <a:ln>
                  <a:noFill/>
                </a:ln>
                <a:solidFill>
                  <a:schemeClr val="tx1"/>
                </a:solidFill>
                <a:effectLst/>
                <a:latin typeface="Arial" panose="020B0604020202020204" pitchFamily="34" charset="0"/>
              </a:rPr>
              <a:t> – Accessible facilities for occupants’ hygiene and comfort.</a:t>
            </a:r>
          </a:p>
          <a:p>
            <a:pPr marL="0" marR="0" lvl="0" indent="0" algn="l" defTabSz="914400" rtl="0" eaLnBrk="0" fontAlgn="base" latinLnBrk="0" hangingPunct="0">
              <a:lnSpc>
                <a:spcPct val="100000"/>
              </a:lnSpc>
              <a:spcBef>
                <a:spcPct val="0"/>
              </a:spcBef>
              <a:spcAft>
                <a:spcPts val="60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Elevator</a:t>
            </a:r>
            <a:r>
              <a:rPr kumimoji="0" lang="en-US" altLang="en-US" sz="1100" b="0" i="0" u="none" strike="noStrike" cap="none" normalizeH="0" baseline="0" dirty="0">
                <a:ln>
                  <a:noFill/>
                </a:ln>
                <a:solidFill>
                  <a:schemeClr val="tx1"/>
                </a:solidFill>
                <a:effectLst/>
                <a:latin typeface="Arial" panose="020B0604020202020204" pitchFamily="34" charset="0"/>
              </a:rPr>
              <a:t> – Vertical transportation connecting multiple building floors.</a:t>
            </a:r>
          </a:p>
          <a:p>
            <a:pPr marL="0" marR="0" lvl="0" indent="0" algn="l" defTabSz="914400" rtl="0" eaLnBrk="0" fontAlgn="base" latinLnBrk="0" hangingPunct="0">
              <a:lnSpc>
                <a:spcPct val="100000"/>
              </a:lnSpc>
              <a:spcBef>
                <a:spcPct val="0"/>
              </a:spcBef>
              <a:spcAft>
                <a:spcPts val="60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Corridor</a:t>
            </a:r>
            <a:r>
              <a:rPr kumimoji="0" lang="en-US" altLang="en-US" sz="1100" b="0" i="0" u="none" strike="noStrike" cap="none" normalizeH="0" baseline="0" dirty="0">
                <a:ln>
                  <a:noFill/>
                </a:ln>
                <a:solidFill>
                  <a:schemeClr val="tx1"/>
                </a:solidFill>
                <a:effectLst/>
                <a:latin typeface="Arial" panose="020B0604020202020204" pitchFamily="34" charset="0"/>
              </a:rPr>
              <a:t> – Circulation path linking major zones; enables clear wayfinding and egress.</a:t>
            </a:r>
          </a:p>
          <a:p>
            <a:pPr marL="0" marR="0" lvl="0" indent="0" algn="l" defTabSz="914400" rtl="0" eaLnBrk="0" fontAlgn="base" latinLnBrk="0" hangingPunct="0">
              <a:lnSpc>
                <a:spcPct val="100000"/>
              </a:lnSpc>
              <a:spcBef>
                <a:spcPct val="0"/>
              </a:spcBef>
              <a:spcAft>
                <a:spcPts val="60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Mechanical &amp; Electrical (Mech and Elec)</a:t>
            </a:r>
            <a:r>
              <a:rPr kumimoji="0" lang="en-US" altLang="en-US" sz="1100" b="0" i="0" u="none" strike="noStrike" cap="none" normalizeH="0" baseline="0" dirty="0">
                <a:ln>
                  <a:noFill/>
                </a:ln>
                <a:solidFill>
                  <a:schemeClr val="tx1"/>
                </a:solidFill>
                <a:effectLst/>
                <a:latin typeface="Arial" panose="020B0604020202020204" pitchFamily="34" charset="0"/>
              </a:rPr>
              <a:t> – Houses HVAC, electrical panels, and utilities.</a:t>
            </a:r>
          </a:p>
          <a:p>
            <a:pPr marL="0" marR="0" lvl="0" indent="0" algn="l" defTabSz="914400" rtl="0" eaLnBrk="0" fontAlgn="base" latinLnBrk="0" hangingPunct="0">
              <a:lnSpc>
                <a:spcPct val="100000"/>
              </a:lnSpc>
              <a:spcBef>
                <a:spcPct val="0"/>
              </a:spcBef>
              <a:spcAft>
                <a:spcPts val="60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Stairway</a:t>
            </a:r>
            <a:r>
              <a:rPr kumimoji="0" lang="en-US" altLang="en-US" sz="1100" b="0" i="0" u="none" strike="noStrike" cap="none" normalizeH="0" baseline="0" dirty="0">
                <a:ln>
                  <a:noFill/>
                </a:ln>
                <a:solidFill>
                  <a:schemeClr val="tx1"/>
                </a:solidFill>
                <a:effectLst/>
                <a:latin typeface="Arial" panose="020B0604020202020204" pitchFamily="34" charset="0"/>
              </a:rPr>
              <a:t> – Vertical circulation for daily use and emergency egress.</a:t>
            </a:r>
          </a:p>
        </p:txBody>
      </p:sp>
      <p:pic>
        <p:nvPicPr>
          <p:cNvPr id="38" name="Picture 37">
            <a:extLst>
              <a:ext uri="{FF2B5EF4-FFF2-40B4-BE49-F238E27FC236}">
                <a16:creationId xmlns:a16="http://schemas.microsoft.com/office/drawing/2014/main" id="{F1C19AF7-44CB-B368-FFA4-19DB29D633DE}"/>
              </a:ext>
            </a:extLst>
          </p:cNvPr>
          <p:cNvPicPr>
            <a:picLocks noChangeAspect="1"/>
          </p:cNvPicPr>
          <p:nvPr/>
        </p:nvPicPr>
        <p:blipFill>
          <a:blip r:embed="rId3"/>
          <a:stretch>
            <a:fillRect/>
          </a:stretch>
        </p:blipFill>
        <p:spPr>
          <a:xfrm>
            <a:off x="5013596" y="3886153"/>
            <a:ext cx="6666667" cy="2933333"/>
          </a:xfrm>
          <a:prstGeom prst="rect">
            <a:avLst/>
          </a:prstGeom>
        </p:spPr>
      </p:pic>
    </p:spTree>
    <p:extLst>
      <p:ext uri="{BB962C8B-B14F-4D97-AF65-F5344CB8AC3E}">
        <p14:creationId xmlns:p14="http://schemas.microsoft.com/office/powerpoint/2010/main" val="3610235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E0D0B-2259-DC2E-9EC8-B059129917F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B0E7501-49DD-347D-FDAA-E71230D7D16D}"/>
              </a:ext>
            </a:extLst>
          </p:cNvPr>
          <p:cNvPicPr>
            <a:picLocks noChangeAspect="1"/>
          </p:cNvPicPr>
          <p:nvPr/>
        </p:nvPicPr>
        <p:blipFill>
          <a:blip r:embed="rId2"/>
          <a:stretch>
            <a:fillRect/>
          </a:stretch>
        </p:blipFill>
        <p:spPr>
          <a:xfrm>
            <a:off x="370560" y="872357"/>
            <a:ext cx="4819641" cy="1931807"/>
          </a:xfrm>
          <a:prstGeom prst="rect">
            <a:avLst/>
          </a:prstGeom>
        </p:spPr>
      </p:pic>
      <p:sp>
        <p:nvSpPr>
          <p:cNvPr id="8" name="TextBox 7">
            <a:extLst>
              <a:ext uri="{FF2B5EF4-FFF2-40B4-BE49-F238E27FC236}">
                <a16:creationId xmlns:a16="http://schemas.microsoft.com/office/drawing/2014/main" id="{F6EA85D7-C043-8F23-DD56-E4EFD0B83D25}"/>
              </a:ext>
            </a:extLst>
          </p:cNvPr>
          <p:cNvSpPr txBox="1"/>
          <p:nvPr/>
        </p:nvSpPr>
        <p:spPr>
          <a:xfrm>
            <a:off x="115614" y="247943"/>
            <a:ext cx="4239879" cy="369332"/>
          </a:xfrm>
          <a:prstGeom prst="rect">
            <a:avLst/>
          </a:prstGeom>
          <a:noFill/>
        </p:spPr>
        <p:txBody>
          <a:bodyPr wrap="none" rtlCol="0">
            <a:spAutoFit/>
          </a:bodyPr>
          <a:lstStyle/>
          <a:p>
            <a:r>
              <a:rPr lang="en-US" dirty="0"/>
              <a:t>Baseline AEDG Small Office Fenestration</a:t>
            </a:r>
          </a:p>
        </p:txBody>
      </p:sp>
      <p:sp>
        <p:nvSpPr>
          <p:cNvPr id="9" name="TextBox 8">
            <a:extLst>
              <a:ext uri="{FF2B5EF4-FFF2-40B4-BE49-F238E27FC236}">
                <a16:creationId xmlns:a16="http://schemas.microsoft.com/office/drawing/2014/main" id="{2EDF7AAC-4568-CB50-063D-7808A20492AD}"/>
              </a:ext>
            </a:extLst>
          </p:cNvPr>
          <p:cNvSpPr txBox="1"/>
          <p:nvPr/>
        </p:nvSpPr>
        <p:spPr>
          <a:xfrm>
            <a:off x="1190656" y="3831453"/>
            <a:ext cx="924997" cy="276999"/>
          </a:xfrm>
          <a:prstGeom prst="rect">
            <a:avLst/>
          </a:prstGeom>
          <a:noFill/>
        </p:spPr>
        <p:txBody>
          <a:bodyPr wrap="none" rtlCol="0">
            <a:spAutoFit/>
          </a:bodyPr>
          <a:lstStyle/>
          <a:p>
            <a:r>
              <a:rPr lang="en-US" sz="1200" dirty="0"/>
              <a:t>Daylighting</a:t>
            </a:r>
          </a:p>
        </p:txBody>
      </p:sp>
      <p:sp>
        <p:nvSpPr>
          <p:cNvPr id="10" name="TextBox 9">
            <a:extLst>
              <a:ext uri="{FF2B5EF4-FFF2-40B4-BE49-F238E27FC236}">
                <a16:creationId xmlns:a16="http://schemas.microsoft.com/office/drawing/2014/main" id="{E845E93D-BA04-069D-6B4E-2F6159F1E7F5}"/>
              </a:ext>
            </a:extLst>
          </p:cNvPr>
          <p:cNvSpPr txBox="1"/>
          <p:nvPr/>
        </p:nvSpPr>
        <p:spPr>
          <a:xfrm>
            <a:off x="525931" y="3467397"/>
            <a:ext cx="1804918" cy="276999"/>
          </a:xfrm>
          <a:prstGeom prst="rect">
            <a:avLst/>
          </a:prstGeom>
          <a:noFill/>
        </p:spPr>
        <p:txBody>
          <a:bodyPr wrap="none" rtlCol="0">
            <a:spAutoFit/>
          </a:bodyPr>
          <a:lstStyle/>
          <a:p>
            <a:r>
              <a:rPr lang="en-US" sz="1200" dirty="0"/>
              <a:t>Exterior Shading Surface</a:t>
            </a:r>
          </a:p>
        </p:txBody>
      </p:sp>
      <p:sp>
        <p:nvSpPr>
          <p:cNvPr id="11" name="TextBox 10">
            <a:extLst>
              <a:ext uri="{FF2B5EF4-FFF2-40B4-BE49-F238E27FC236}">
                <a16:creationId xmlns:a16="http://schemas.microsoft.com/office/drawing/2014/main" id="{477D0D4A-9FB7-25E2-4CA9-3F1DBC58EB00}"/>
              </a:ext>
            </a:extLst>
          </p:cNvPr>
          <p:cNvSpPr txBox="1"/>
          <p:nvPr/>
        </p:nvSpPr>
        <p:spPr>
          <a:xfrm>
            <a:off x="5700995" y="432609"/>
            <a:ext cx="6120445" cy="1938992"/>
          </a:xfrm>
          <a:prstGeom prst="rect">
            <a:avLst/>
          </a:prstGeom>
          <a:noFill/>
        </p:spPr>
        <p:txBody>
          <a:bodyPr wrap="square" rtlCol="0">
            <a:spAutoFit/>
          </a:bodyPr>
          <a:lstStyle/>
          <a:p>
            <a:r>
              <a:rPr lang="en-US" sz="1200" dirty="0"/>
              <a:t>The window-to-wall ratio (</a:t>
            </a:r>
            <a:r>
              <a:rPr lang="en-US" sz="1200" b="1" dirty="0"/>
              <a:t>WWR</a:t>
            </a:r>
            <a:r>
              <a:rPr lang="en-US" sz="1200" dirty="0"/>
              <a:t>) is the ratio of window area to above-grade exterior wall</a:t>
            </a:r>
          </a:p>
          <a:p>
            <a:r>
              <a:rPr lang="en-US" sz="1200" dirty="0"/>
              <a:t> area (excluding parapets) for a building or a façade.  </a:t>
            </a:r>
            <a:r>
              <a:rPr lang="en-US" sz="1200" b="1" dirty="0"/>
              <a:t>Target is ~30%</a:t>
            </a:r>
          </a:p>
          <a:p>
            <a:endParaRPr lang="en-US" sz="1200" b="1" dirty="0"/>
          </a:p>
          <a:p>
            <a:r>
              <a:rPr lang="en-US" sz="1200" dirty="0"/>
              <a:t> It is good practice to reduce WWR on the east and west elevations compared to the north and south elevations. It is difficult to control solar gains and glare on the east and west façades, and northern latitudes have higher incident solar radiation striking these façades during the summer.</a:t>
            </a:r>
          </a:p>
          <a:p>
            <a:endParaRPr lang="en-US" sz="1200" dirty="0"/>
          </a:p>
          <a:p>
            <a:r>
              <a:rPr lang="en-US" sz="1200" dirty="0"/>
              <a:t>An effective </a:t>
            </a:r>
            <a:r>
              <a:rPr lang="en-US" sz="1200" b="1" dirty="0"/>
              <a:t>daylighting</a:t>
            </a:r>
            <a:r>
              <a:rPr lang="en-US" sz="1200" dirty="0"/>
              <a:t> system from an energy perspective is one in which the occupants do not want the lights on and do not want to cover over glazing to fix glare problems. </a:t>
            </a:r>
          </a:p>
        </p:txBody>
      </p:sp>
      <p:pic>
        <p:nvPicPr>
          <p:cNvPr id="13" name="Picture 12">
            <a:extLst>
              <a:ext uri="{FF2B5EF4-FFF2-40B4-BE49-F238E27FC236}">
                <a16:creationId xmlns:a16="http://schemas.microsoft.com/office/drawing/2014/main" id="{E18CC5CC-7703-F809-D4DA-35CBE59D7D7D}"/>
              </a:ext>
            </a:extLst>
          </p:cNvPr>
          <p:cNvPicPr>
            <a:picLocks noChangeAspect="1"/>
          </p:cNvPicPr>
          <p:nvPr/>
        </p:nvPicPr>
        <p:blipFill>
          <a:blip r:embed="rId3"/>
          <a:stretch>
            <a:fillRect/>
          </a:stretch>
        </p:blipFill>
        <p:spPr>
          <a:xfrm>
            <a:off x="301165" y="4407629"/>
            <a:ext cx="2254449" cy="2251177"/>
          </a:xfrm>
          <a:prstGeom prst="rect">
            <a:avLst/>
          </a:prstGeom>
        </p:spPr>
      </p:pic>
      <p:sp>
        <p:nvSpPr>
          <p:cNvPr id="14" name="TextBox 13">
            <a:extLst>
              <a:ext uri="{FF2B5EF4-FFF2-40B4-BE49-F238E27FC236}">
                <a16:creationId xmlns:a16="http://schemas.microsoft.com/office/drawing/2014/main" id="{E4D36334-E2E4-BF5C-3BD2-216599FE79AC}"/>
              </a:ext>
            </a:extLst>
          </p:cNvPr>
          <p:cNvSpPr txBox="1"/>
          <p:nvPr/>
        </p:nvSpPr>
        <p:spPr>
          <a:xfrm>
            <a:off x="171339" y="3093268"/>
            <a:ext cx="1481816" cy="276999"/>
          </a:xfrm>
          <a:prstGeom prst="rect">
            <a:avLst/>
          </a:prstGeom>
          <a:noFill/>
        </p:spPr>
        <p:txBody>
          <a:bodyPr wrap="none" rtlCol="0">
            <a:spAutoFit/>
          </a:bodyPr>
          <a:lstStyle/>
          <a:p>
            <a:r>
              <a:rPr lang="en-US" sz="1200" dirty="0"/>
              <a:t>Daylight redirection</a:t>
            </a:r>
          </a:p>
        </p:txBody>
      </p:sp>
      <p:pic>
        <p:nvPicPr>
          <p:cNvPr id="3" name="Picture 2">
            <a:extLst>
              <a:ext uri="{FF2B5EF4-FFF2-40B4-BE49-F238E27FC236}">
                <a16:creationId xmlns:a16="http://schemas.microsoft.com/office/drawing/2014/main" id="{C020E136-A7D6-2BF4-5B3D-4BE52825C1B6}"/>
              </a:ext>
            </a:extLst>
          </p:cNvPr>
          <p:cNvPicPr>
            <a:picLocks noChangeAspect="1"/>
          </p:cNvPicPr>
          <p:nvPr/>
        </p:nvPicPr>
        <p:blipFill>
          <a:blip r:embed="rId4"/>
          <a:stretch>
            <a:fillRect/>
          </a:stretch>
        </p:blipFill>
        <p:spPr>
          <a:xfrm>
            <a:off x="5700995" y="4096349"/>
            <a:ext cx="6315080" cy="2527668"/>
          </a:xfrm>
          <a:prstGeom prst="rect">
            <a:avLst/>
          </a:prstGeom>
        </p:spPr>
      </p:pic>
      <p:sp>
        <p:nvSpPr>
          <p:cNvPr id="4" name="TextBox 3">
            <a:extLst>
              <a:ext uri="{FF2B5EF4-FFF2-40B4-BE49-F238E27FC236}">
                <a16:creationId xmlns:a16="http://schemas.microsoft.com/office/drawing/2014/main" id="{E8A78620-C010-25A6-42B3-9A0D00190548}"/>
              </a:ext>
            </a:extLst>
          </p:cNvPr>
          <p:cNvSpPr txBox="1"/>
          <p:nvPr/>
        </p:nvSpPr>
        <p:spPr>
          <a:xfrm>
            <a:off x="525931" y="2392320"/>
            <a:ext cx="1637564" cy="369332"/>
          </a:xfrm>
          <a:prstGeom prst="rect">
            <a:avLst/>
          </a:prstGeom>
          <a:noFill/>
        </p:spPr>
        <p:txBody>
          <a:bodyPr wrap="none" rtlCol="0">
            <a:spAutoFit/>
          </a:bodyPr>
          <a:lstStyle/>
          <a:p>
            <a:r>
              <a:rPr lang="en-US" dirty="0"/>
              <a:t>30% WWR N-S</a:t>
            </a:r>
          </a:p>
        </p:txBody>
      </p:sp>
      <p:sp>
        <p:nvSpPr>
          <p:cNvPr id="6" name="TextBox 5">
            <a:extLst>
              <a:ext uri="{FF2B5EF4-FFF2-40B4-BE49-F238E27FC236}">
                <a16:creationId xmlns:a16="http://schemas.microsoft.com/office/drawing/2014/main" id="{9EB22D02-F41A-448F-11C0-456DB64F6632}"/>
              </a:ext>
            </a:extLst>
          </p:cNvPr>
          <p:cNvSpPr txBox="1"/>
          <p:nvPr/>
        </p:nvSpPr>
        <p:spPr>
          <a:xfrm>
            <a:off x="4351670" y="2392320"/>
            <a:ext cx="1674048" cy="369332"/>
          </a:xfrm>
          <a:prstGeom prst="rect">
            <a:avLst/>
          </a:prstGeom>
          <a:noFill/>
        </p:spPr>
        <p:txBody>
          <a:bodyPr wrap="none" rtlCol="0">
            <a:spAutoFit/>
          </a:bodyPr>
          <a:lstStyle/>
          <a:p>
            <a:r>
              <a:rPr lang="en-US" dirty="0"/>
              <a:t>20% WWR E-W</a:t>
            </a:r>
          </a:p>
        </p:txBody>
      </p:sp>
      <p:pic>
        <p:nvPicPr>
          <p:cNvPr id="12" name="Picture 11">
            <a:extLst>
              <a:ext uri="{FF2B5EF4-FFF2-40B4-BE49-F238E27FC236}">
                <a16:creationId xmlns:a16="http://schemas.microsoft.com/office/drawing/2014/main" id="{C063CD53-2650-5A48-4D14-3F0C1B555B9F}"/>
              </a:ext>
            </a:extLst>
          </p:cNvPr>
          <p:cNvPicPr>
            <a:picLocks noChangeAspect="1"/>
          </p:cNvPicPr>
          <p:nvPr/>
        </p:nvPicPr>
        <p:blipFill>
          <a:blip r:embed="rId5"/>
          <a:stretch>
            <a:fillRect/>
          </a:stretch>
        </p:blipFill>
        <p:spPr>
          <a:xfrm>
            <a:off x="2780380" y="4529756"/>
            <a:ext cx="2577186" cy="1660853"/>
          </a:xfrm>
          <a:prstGeom prst="rect">
            <a:avLst/>
          </a:prstGeom>
        </p:spPr>
      </p:pic>
    </p:spTree>
    <p:extLst>
      <p:ext uri="{BB962C8B-B14F-4D97-AF65-F5344CB8AC3E}">
        <p14:creationId xmlns:p14="http://schemas.microsoft.com/office/powerpoint/2010/main" val="2999217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3A558-7AC7-73A3-33DC-2ABEAE82098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0C33E6A-4DD9-2D26-E026-5F44604B7E52}"/>
              </a:ext>
            </a:extLst>
          </p:cNvPr>
          <p:cNvPicPr>
            <a:picLocks noChangeAspect="1"/>
          </p:cNvPicPr>
          <p:nvPr/>
        </p:nvPicPr>
        <p:blipFill>
          <a:blip r:embed="rId2"/>
          <a:stretch>
            <a:fillRect/>
          </a:stretch>
        </p:blipFill>
        <p:spPr>
          <a:xfrm>
            <a:off x="370560" y="872357"/>
            <a:ext cx="4819641" cy="1931807"/>
          </a:xfrm>
          <a:prstGeom prst="rect">
            <a:avLst/>
          </a:prstGeom>
        </p:spPr>
      </p:pic>
      <p:sp>
        <p:nvSpPr>
          <p:cNvPr id="8" name="TextBox 7">
            <a:extLst>
              <a:ext uri="{FF2B5EF4-FFF2-40B4-BE49-F238E27FC236}">
                <a16:creationId xmlns:a16="http://schemas.microsoft.com/office/drawing/2014/main" id="{8D5EF77A-51B4-E03C-ED90-F791940A20D5}"/>
              </a:ext>
            </a:extLst>
          </p:cNvPr>
          <p:cNvSpPr txBox="1"/>
          <p:nvPr/>
        </p:nvSpPr>
        <p:spPr>
          <a:xfrm>
            <a:off x="115614" y="247943"/>
            <a:ext cx="4753032" cy="369332"/>
          </a:xfrm>
          <a:prstGeom prst="rect">
            <a:avLst/>
          </a:prstGeom>
          <a:noFill/>
        </p:spPr>
        <p:txBody>
          <a:bodyPr wrap="none" rtlCol="0">
            <a:spAutoFit/>
          </a:bodyPr>
          <a:lstStyle/>
          <a:p>
            <a:r>
              <a:rPr lang="en-US" dirty="0"/>
              <a:t>Baseline AEDG Small Office Opaque Envelope</a:t>
            </a:r>
          </a:p>
        </p:txBody>
      </p:sp>
      <p:sp>
        <p:nvSpPr>
          <p:cNvPr id="15" name="TextBox 14">
            <a:extLst>
              <a:ext uri="{FF2B5EF4-FFF2-40B4-BE49-F238E27FC236}">
                <a16:creationId xmlns:a16="http://schemas.microsoft.com/office/drawing/2014/main" id="{89FBB487-BFFA-6022-5BB9-AFF0C33D55FF}"/>
              </a:ext>
            </a:extLst>
          </p:cNvPr>
          <p:cNvSpPr txBox="1"/>
          <p:nvPr/>
        </p:nvSpPr>
        <p:spPr>
          <a:xfrm>
            <a:off x="442428" y="3175083"/>
            <a:ext cx="1866505" cy="461665"/>
          </a:xfrm>
          <a:prstGeom prst="rect">
            <a:avLst/>
          </a:prstGeom>
          <a:noFill/>
        </p:spPr>
        <p:txBody>
          <a:bodyPr wrap="square" rtlCol="0">
            <a:spAutoFit/>
          </a:bodyPr>
          <a:lstStyle/>
          <a:p>
            <a:r>
              <a:rPr lang="en-US" sz="1200" dirty="0"/>
              <a:t>Insulated steel framed exterior wall</a:t>
            </a:r>
          </a:p>
        </p:txBody>
      </p:sp>
      <p:sp>
        <p:nvSpPr>
          <p:cNvPr id="16" name="TextBox 15">
            <a:extLst>
              <a:ext uri="{FF2B5EF4-FFF2-40B4-BE49-F238E27FC236}">
                <a16:creationId xmlns:a16="http://schemas.microsoft.com/office/drawing/2014/main" id="{D1877E38-7426-14E1-B903-A96CD84503D0}"/>
              </a:ext>
            </a:extLst>
          </p:cNvPr>
          <p:cNvSpPr txBox="1"/>
          <p:nvPr/>
        </p:nvSpPr>
        <p:spPr>
          <a:xfrm>
            <a:off x="370560" y="4190746"/>
            <a:ext cx="6788971" cy="830997"/>
          </a:xfrm>
          <a:prstGeom prst="rect">
            <a:avLst/>
          </a:prstGeom>
          <a:noFill/>
        </p:spPr>
        <p:txBody>
          <a:bodyPr wrap="square" rtlCol="0">
            <a:spAutoFit/>
          </a:bodyPr>
          <a:lstStyle/>
          <a:p>
            <a:r>
              <a:rPr lang="en-US" sz="1200" dirty="0"/>
              <a:t>Interior wall, no insulation.  </a:t>
            </a:r>
          </a:p>
          <a:p>
            <a:pPr lvl="1" eaLnBrk="0" fontAlgn="base" hangingPunct="0">
              <a:spcBef>
                <a:spcPct val="0"/>
              </a:spcBef>
              <a:spcAft>
                <a:spcPct val="0"/>
              </a:spcAft>
            </a:pPr>
            <a:r>
              <a:rPr lang="en-US" altLang="en-US" sz="1200" dirty="0"/>
              <a:t>Uninsulated interior walls permit heat transfer between core and perimeter zones.</a:t>
            </a:r>
          </a:p>
          <a:p>
            <a:pPr lvl="1" eaLnBrk="0" fontAlgn="base" hangingPunct="0">
              <a:spcBef>
                <a:spcPct val="0"/>
              </a:spcBef>
              <a:spcAft>
                <a:spcPct val="0"/>
              </a:spcAft>
            </a:pPr>
            <a:r>
              <a:rPr lang="en-US" altLang="en-US" sz="1200" dirty="0"/>
              <a:t>This passive energy exchange helps moderate zone temperatures and </a:t>
            </a:r>
            <a:r>
              <a:rPr lang="en-US" altLang="en-US" sz="1200" b="1" dirty="0"/>
              <a:t>lowers overall EUI</a:t>
            </a:r>
            <a:r>
              <a:rPr lang="en-US" altLang="en-US" sz="1200" dirty="0"/>
              <a:t>.</a:t>
            </a:r>
          </a:p>
          <a:p>
            <a:pPr lvl="1" eaLnBrk="0" fontAlgn="base" hangingPunct="0">
              <a:spcBef>
                <a:spcPct val="0"/>
              </a:spcBef>
              <a:spcAft>
                <a:spcPct val="0"/>
              </a:spcAft>
            </a:pPr>
            <a:r>
              <a:rPr lang="en-US" altLang="en-US" sz="1200" dirty="0"/>
              <a:t>Interior coupling reduces simultaneous heating and cooling loads in small office designs</a:t>
            </a:r>
            <a:endParaRPr lang="en-US" sz="1200" dirty="0"/>
          </a:p>
        </p:txBody>
      </p:sp>
      <p:sp>
        <p:nvSpPr>
          <p:cNvPr id="6" name="TextBox 5">
            <a:extLst>
              <a:ext uri="{FF2B5EF4-FFF2-40B4-BE49-F238E27FC236}">
                <a16:creationId xmlns:a16="http://schemas.microsoft.com/office/drawing/2014/main" id="{183BD948-F5E2-6E76-79AC-598B43487E63}"/>
              </a:ext>
            </a:extLst>
          </p:cNvPr>
          <p:cNvSpPr txBox="1"/>
          <p:nvPr/>
        </p:nvSpPr>
        <p:spPr>
          <a:xfrm>
            <a:off x="2308933" y="3175083"/>
            <a:ext cx="6120445" cy="1015663"/>
          </a:xfrm>
          <a:prstGeom prst="rect">
            <a:avLst/>
          </a:prstGeom>
          <a:noFill/>
        </p:spPr>
        <p:txBody>
          <a:bodyPr wrap="square" rtlCol="0">
            <a:spAutoFit/>
          </a:bodyPr>
          <a:lstStyle/>
          <a:p>
            <a:r>
              <a:rPr lang="en-US" sz="1200" dirty="0"/>
              <a:t>Cold-formed steel framing members are thermal bridges. Continuous insulation on the </a:t>
            </a:r>
            <a:r>
              <a:rPr lang="en-US" sz="1200" b="1" dirty="0"/>
              <a:t>exterior</a:t>
            </a:r>
            <a:r>
              <a:rPr lang="en-US" sz="1200" dirty="0"/>
              <a:t> of framed walls is the recommended method to minimize thermal bridges created by the framing. While wood studs are less conductive than steel, thermal bridging through the wood also decreases the effectiveness of stud cavity insulation; therefore, continuous </a:t>
            </a:r>
            <a:r>
              <a:rPr lang="en-US" sz="1200" b="1" dirty="0"/>
              <a:t>exterior</a:t>
            </a:r>
            <a:r>
              <a:rPr lang="en-US" sz="1200" dirty="0"/>
              <a:t> insulation is also recommended for wood-framed stud walls</a:t>
            </a:r>
          </a:p>
        </p:txBody>
      </p:sp>
      <p:sp>
        <p:nvSpPr>
          <p:cNvPr id="12" name="TextBox 11">
            <a:extLst>
              <a:ext uri="{FF2B5EF4-FFF2-40B4-BE49-F238E27FC236}">
                <a16:creationId xmlns:a16="http://schemas.microsoft.com/office/drawing/2014/main" id="{77CCF1BB-2B8D-0BD3-E216-DFA95DEAEE58}"/>
              </a:ext>
            </a:extLst>
          </p:cNvPr>
          <p:cNvSpPr txBox="1"/>
          <p:nvPr/>
        </p:nvSpPr>
        <p:spPr>
          <a:xfrm>
            <a:off x="6250337" y="1435843"/>
            <a:ext cx="5765233" cy="369332"/>
          </a:xfrm>
          <a:prstGeom prst="rect">
            <a:avLst/>
          </a:prstGeom>
          <a:noFill/>
        </p:spPr>
        <p:txBody>
          <a:bodyPr wrap="none" rtlCol="0">
            <a:spAutoFit/>
          </a:bodyPr>
          <a:lstStyle/>
          <a:p>
            <a:r>
              <a:rPr lang="en-US" dirty="0"/>
              <a:t>EN4 Insulation of Steel-Framed and Wood-Framed Walls</a:t>
            </a:r>
          </a:p>
        </p:txBody>
      </p:sp>
      <p:sp>
        <p:nvSpPr>
          <p:cNvPr id="19" name="TextBox 18">
            <a:extLst>
              <a:ext uri="{FF2B5EF4-FFF2-40B4-BE49-F238E27FC236}">
                <a16:creationId xmlns:a16="http://schemas.microsoft.com/office/drawing/2014/main" id="{0EF6667A-B477-C480-4EC5-E025A56A09D1}"/>
              </a:ext>
            </a:extLst>
          </p:cNvPr>
          <p:cNvSpPr txBox="1"/>
          <p:nvPr/>
        </p:nvSpPr>
        <p:spPr>
          <a:xfrm>
            <a:off x="2308933" y="5252575"/>
            <a:ext cx="6120445" cy="646331"/>
          </a:xfrm>
          <a:prstGeom prst="rect">
            <a:avLst/>
          </a:prstGeom>
          <a:noFill/>
        </p:spPr>
        <p:txBody>
          <a:bodyPr wrap="square" rtlCol="0">
            <a:spAutoFit/>
          </a:bodyPr>
          <a:lstStyle/>
          <a:p>
            <a:r>
              <a:rPr lang="en-US" sz="1200" dirty="0"/>
              <a:t>For </a:t>
            </a:r>
            <a:r>
              <a:rPr lang="en-US" sz="1200" b="1" dirty="0"/>
              <a:t>mass walls</a:t>
            </a:r>
            <a:r>
              <a:rPr lang="en-US" sz="1200" dirty="0"/>
              <a:t>, continuous </a:t>
            </a:r>
            <a:r>
              <a:rPr lang="en-US" sz="1200" b="1" dirty="0"/>
              <a:t>exterior</a:t>
            </a:r>
            <a:r>
              <a:rPr lang="en-US" sz="1200" dirty="0"/>
              <a:t> insulation is preferred over </a:t>
            </a:r>
            <a:r>
              <a:rPr lang="en-US" sz="1200" b="1" dirty="0"/>
              <a:t>interior</a:t>
            </a:r>
            <a:r>
              <a:rPr lang="en-US" sz="1200" dirty="0"/>
              <a:t> insulation as it can aid in the continuity of the air barrier and insulation and better accommodates the use of the thermal mass (when exposed to the interior) for energy efficiency.</a:t>
            </a:r>
          </a:p>
        </p:txBody>
      </p:sp>
      <p:sp>
        <p:nvSpPr>
          <p:cNvPr id="20" name="TextBox 19">
            <a:extLst>
              <a:ext uri="{FF2B5EF4-FFF2-40B4-BE49-F238E27FC236}">
                <a16:creationId xmlns:a16="http://schemas.microsoft.com/office/drawing/2014/main" id="{920CECEE-7FA8-B9A0-AF34-B0347145D1ED}"/>
              </a:ext>
            </a:extLst>
          </p:cNvPr>
          <p:cNvSpPr txBox="1"/>
          <p:nvPr/>
        </p:nvSpPr>
        <p:spPr>
          <a:xfrm>
            <a:off x="442427" y="5268451"/>
            <a:ext cx="1866505" cy="461665"/>
          </a:xfrm>
          <a:prstGeom prst="rect">
            <a:avLst/>
          </a:prstGeom>
          <a:noFill/>
        </p:spPr>
        <p:txBody>
          <a:bodyPr wrap="square" rtlCol="0">
            <a:spAutoFit/>
          </a:bodyPr>
          <a:lstStyle/>
          <a:p>
            <a:r>
              <a:rPr lang="en-US" sz="1200" dirty="0"/>
              <a:t>Insulated concrete mass exterior wall</a:t>
            </a:r>
          </a:p>
        </p:txBody>
      </p:sp>
      <p:sp>
        <p:nvSpPr>
          <p:cNvPr id="21" name="TextBox 20">
            <a:extLst>
              <a:ext uri="{FF2B5EF4-FFF2-40B4-BE49-F238E27FC236}">
                <a16:creationId xmlns:a16="http://schemas.microsoft.com/office/drawing/2014/main" id="{32535A55-7B8C-933F-9807-C2F0F99771A5}"/>
              </a:ext>
            </a:extLst>
          </p:cNvPr>
          <p:cNvSpPr txBox="1"/>
          <p:nvPr/>
        </p:nvSpPr>
        <p:spPr>
          <a:xfrm>
            <a:off x="6250337" y="695592"/>
            <a:ext cx="2496004" cy="369332"/>
          </a:xfrm>
          <a:prstGeom prst="rect">
            <a:avLst/>
          </a:prstGeom>
          <a:noFill/>
        </p:spPr>
        <p:txBody>
          <a:bodyPr wrap="none" rtlCol="0">
            <a:spAutoFit/>
          </a:bodyPr>
          <a:lstStyle/>
          <a:p>
            <a:r>
              <a:rPr lang="en-US" dirty="0"/>
              <a:t>EN2 Insulation of Roofs</a:t>
            </a:r>
          </a:p>
        </p:txBody>
      </p:sp>
      <p:sp>
        <p:nvSpPr>
          <p:cNvPr id="22" name="TextBox 21">
            <a:extLst>
              <a:ext uri="{FF2B5EF4-FFF2-40B4-BE49-F238E27FC236}">
                <a16:creationId xmlns:a16="http://schemas.microsoft.com/office/drawing/2014/main" id="{65B29CF4-D524-EAE7-E30D-9F2473E9B9C7}"/>
              </a:ext>
            </a:extLst>
          </p:cNvPr>
          <p:cNvSpPr txBox="1"/>
          <p:nvPr/>
        </p:nvSpPr>
        <p:spPr>
          <a:xfrm>
            <a:off x="6250337" y="1059917"/>
            <a:ext cx="5519844" cy="369332"/>
          </a:xfrm>
          <a:prstGeom prst="rect">
            <a:avLst/>
          </a:prstGeom>
          <a:noFill/>
        </p:spPr>
        <p:txBody>
          <a:bodyPr wrap="none" rtlCol="0">
            <a:spAutoFit/>
          </a:bodyPr>
          <a:lstStyle/>
          <a:p>
            <a:r>
              <a:rPr lang="en-US" dirty="0"/>
              <a:t>EN3 Insulation of Mass Walls—Concrete and Masonry</a:t>
            </a:r>
          </a:p>
        </p:txBody>
      </p:sp>
    </p:spTree>
    <p:extLst>
      <p:ext uri="{BB962C8B-B14F-4D97-AF65-F5344CB8AC3E}">
        <p14:creationId xmlns:p14="http://schemas.microsoft.com/office/powerpoint/2010/main" val="1340815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D0DF0-062F-1446-E95A-AFFF629F6AB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374A0E6-A5DD-305B-30AE-85C67E3F229A}"/>
              </a:ext>
            </a:extLst>
          </p:cNvPr>
          <p:cNvPicPr>
            <a:picLocks noChangeAspect="1"/>
          </p:cNvPicPr>
          <p:nvPr/>
        </p:nvPicPr>
        <p:blipFill>
          <a:blip r:embed="rId2"/>
          <a:stretch>
            <a:fillRect/>
          </a:stretch>
        </p:blipFill>
        <p:spPr>
          <a:xfrm>
            <a:off x="370560" y="872357"/>
            <a:ext cx="4819641" cy="1931807"/>
          </a:xfrm>
          <a:prstGeom prst="rect">
            <a:avLst/>
          </a:prstGeom>
        </p:spPr>
      </p:pic>
      <p:sp>
        <p:nvSpPr>
          <p:cNvPr id="8" name="TextBox 7">
            <a:extLst>
              <a:ext uri="{FF2B5EF4-FFF2-40B4-BE49-F238E27FC236}">
                <a16:creationId xmlns:a16="http://schemas.microsoft.com/office/drawing/2014/main" id="{F10CF185-3E03-CBEC-FA8C-363E352A2CBE}"/>
              </a:ext>
            </a:extLst>
          </p:cNvPr>
          <p:cNvSpPr txBox="1"/>
          <p:nvPr/>
        </p:nvSpPr>
        <p:spPr>
          <a:xfrm>
            <a:off x="115614" y="247943"/>
            <a:ext cx="4130811" cy="369332"/>
          </a:xfrm>
          <a:prstGeom prst="rect">
            <a:avLst/>
          </a:prstGeom>
          <a:noFill/>
        </p:spPr>
        <p:txBody>
          <a:bodyPr wrap="none" rtlCol="0">
            <a:spAutoFit/>
          </a:bodyPr>
          <a:lstStyle/>
          <a:p>
            <a:r>
              <a:rPr lang="en-US" dirty="0"/>
              <a:t>Baseline AEDG Small Office Air Leakage</a:t>
            </a:r>
          </a:p>
        </p:txBody>
      </p:sp>
      <p:sp>
        <p:nvSpPr>
          <p:cNvPr id="6" name="TextBox 5">
            <a:extLst>
              <a:ext uri="{FF2B5EF4-FFF2-40B4-BE49-F238E27FC236}">
                <a16:creationId xmlns:a16="http://schemas.microsoft.com/office/drawing/2014/main" id="{693B768B-7524-2B5F-8547-B5F70569D418}"/>
              </a:ext>
            </a:extLst>
          </p:cNvPr>
          <p:cNvSpPr txBox="1"/>
          <p:nvPr/>
        </p:nvSpPr>
        <p:spPr>
          <a:xfrm>
            <a:off x="370560" y="3081562"/>
            <a:ext cx="5879778" cy="1384995"/>
          </a:xfrm>
          <a:prstGeom prst="rect">
            <a:avLst/>
          </a:prstGeom>
          <a:noFill/>
        </p:spPr>
        <p:txBody>
          <a:bodyPr wrap="square" rtlCol="0">
            <a:spAutoFit/>
          </a:bodyPr>
          <a:lstStyle/>
          <a:p>
            <a:r>
              <a:rPr lang="en-US" sz="1200" dirty="0"/>
              <a:t>When air moves through the envelope, energy transfer occurs and either heating or cooling from the interior is lost (exfiltration) or exterior air is admitted (infiltration). Air infiltration and exfiltration are caused by pressure differences from wind, stack effect, and building mechanical systems and are controlled by the air barrier system. The air barrier system must be continuous over all surfaces of the building envelope, including at the lowest floor, exterior walls, and the roof, separating controlled interior environments from exterior and semi-conditioned or unconditioned spaces.</a:t>
            </a:r>
          </a:p>
        </p:txBody>
      </p:sp>
      <p:sp>
        <p:nvSpPr>
          <p:cNvPr id="19" name="TextBox 18">
            <a:extLst>
              <a:ext uri="{FF2B5EF4-FFF2-40B4-BE49-F238E27FC236}">
                <a16:creationId xmlns:a16="http://schemas.microsoft.com/office/drawing/2014/main" id="{A98A7E0E-7653-DB2B-753E-722276BA0D2A}"/>
              </a:ext>
            </a:extLst>
          </p:cNvPr>
          <p:cNvSpPr txBox="1"/>
          <p:nvPr/>
        </p:nvSpPr>
        <p:spPr>
          <a:xfrm>
            <a:off x="1846013" y="5257470"/>
            <a:ext cx="5645364" cy="1015663"/>
          </a:xfrm>
          <a:prstGeom prst="rect">
            <a:avLst/>
          </a:prstGeom>
          <a:noFill/>
        </p:spPr>
        <p:txBody>
          <a:bodyPr wrap="square" rtlCol="0">
            <a:spAutoFit/>
          </a:bodyPr>
          <a:lstStyle/>
          <a:p>
            <a:r>
              <a:rPr lang="en-US" sz="1200" dirty="0"/>
              <a:t>The recommended target air leakage rate is 0.25 cfm/ft2 (or less) of total envelope surface area at 75 Pa for all climate zones except 7 and 8. The recommended target for climate zones 7 and 8 is 0.15 cfm/ft2 (or less) of total envelope surface area at 75 Pa. These targets are based on air leakage testing procedures per ASTM E779 (ASTM 2019).</a:t>
            </a:r>
          </a:p>
        </p:txBody>
      </p:sp>
      <p:sp>
        <p:nvSpPr>
          <p:cNvPr id="20" name="TextBox 19">
            <a:extLst>
              <a:ext uri="{FF2B5EF4-FFF2-40B4-BE49-F238E27FC236}">
                <a16:creationId xmlns:a16="http://schemas.microsoft.com/office/drawing/2014/main" id="{D53B10CB-279F-C968-9EAC-D712CBA175D4}"/>
              </a:ext>
            </a:extLst>
          </p:cNvPr>
          <p:cNvSpPr txBox="1"/>
          <p:nvPr/>
        </p:nvSpPr>
        <p:spPr>
          <a:xfrm>
            <a:off x="442427" y="5268451"/>
            <a:ext cx="1866505" cy="276999"/>
          </a:xfrm>
          <a:prstGeom prst="rect">
            <a:avLst/>
          </a:prstGeom>
          <a:noFill/>
        </p:spPr>
        <p:txBody>
          <a:bodyPr wrap="square" rtlCol="0">
            <a:spAutoFit/>
          </a:bodyPr>
          <a:lstStyle/>
          <a:p>
            <a:r>
              <a:rPr lang="en-US" sz="1200" dirty="0"/>
              <a:t>Infiltration Target</a:t>
            </a:r>
          </a:p>
        </p:txBody>
      </p:sp>
      <p:sp>
        <p:nvSpPr>
          <p:cNvPr id="21" name="TextBox 20">
            <a:extLst>
              <a:ext uri="{FF2B5EF4-FFF2-40B4-BE49-F238E27FC236}">
                <a16:creationId xmlns:a16="http://schemas.microsoft.com/office/drawing/2014/main" id="{523BD70D-4ECC-C50E-419E-F594840BD34B}"/>
              </a:ext>
            </a:extLst>
          </p:cNvPr>
          <p:cNvSpPr txBox="1"/>
          <p:nvPr/>
        </p:nvSpPr>
        <p:spPr>
          <a:xfrm>
            <a:off x="6250337" y="695592"/>
            <a:ext cx="4555221" cy="369332"/>
          </a:xfrm>
          <a:prstGeom prst="rect">
            <a:avLst/>
          </a:prstGeom>
          <a:noFill/>
        </p:spPr>
        <p:txBody>
          <a:bodyPr wrap="none" rtlCol="0">
            <a:spAutoFit/>
          </a:bodyPr>
          <a:lstStyle/>
          <a:p>
            <a:r>
              <a:rPr lang="en-US" dirty="0"/>
              <a:t>EN27 Air Leakage Control General Guidance</a:t>
            </a:r>
          </a:p>
        </p:txBody>
      </p:sp>
      <p:sp>
        <p:nvSpPr>
          <p:cNvPr id="2" name="TextBox 1">
            <a:extLst>
              <a:ext uri="{FF2B5EF4-FFF2-40B4-BE49-F238E27FC236}">
                <a16:creationId xmlns:a16="http://schemas.microsoft.com/office/drawing/2014/main" id="{8C2B582C-BA1F-DFEA-1560-1E53387C5B77}"/>
              </a:ext>
            </a:extLst>
          </p:cNvPr>
          <p:cNvSpPr txBox="1"/>
          <p:nvPr/>
        </p:nvSpPr>
        <p:spPr>
          <a:xfrm>
            <a:off x="6250337" y="1092698"/>
            <a:ext cx="4594912" cy="369332"/>
          </a:xfrm>
          <a:prstGeom prst="rect">
            <a:avLst/>
          </a:prstGeom>
          <a:noFill/>
        </p:spPr>
        <p:txBody>
          <a:bodyPr wrap="none" rtlCol="0">
            <a:spAutoFit/>
          </a:bodyPr>
          <a:lstStyle/>
          <a:p>
            <a:r>
              <a:rPr lang="en-US" dirty="0"/>
              <a:t>EN28 Air Leakage for Fenestration and Doors</a:t>
            </a:r>
          </a:p>
        </p:txBody>
      </p:sp>
      <p:sp>
        <p:nvSpPr>
          <p:cNvPr id="3" name="TextBox 2">
            <a:extLst>
              <a:ext uri="{FF2B5EF4-FFF2-40B4-BE49-F238E27FC236}">
                <a16:creationId xmlns:a16="http://schemas.microsoft.com/office/drawing/2014/main" id="{A4786841-3369-6EAC-059F-80DA33A9303F}"/>
              </a:ext>
            </a:extLst>
          </p:cNvPr>
          <p:cNvSpPr txBox="1"/>
          <p:nvPr/>
        </p:nvSpPr>
        <p:spPr>
          <a:xfrm>
            <a:off x="6250337" y="1516472"/>
            <a:ext cx="5182444" cy="369332"/>
          </a:xfrm>
          <a:prstGeom prst="rect">
            <a:avLst/>
          </a:prstGeom>
          <a:noFill/>
        </p:spPr>
        <p:txBody>
          <a:bodyPr wrap="none" rtlCol="0">
            <a:spAutoFit/>
          </a:bodyPr>
          <a:lstStyle/>
          <a:p>
            <a:r>
              <a:rPr lang="en-US" dirty="0"/>
              <a:t>EN29 Establish a Minimum Air Leakage Rate Target</a:t>
            </a:r>
          </a:p>
        </p:txBody>
      </p:sp>
    </p:spTree>
    <p:extLst>
      <p:ext uri="{BB962C8B-B14F-4D97-AF65-F5344CB8AC3E}">
        <p14:creationId xmlns:p14="http://schemas.microsoft.com/office/powerpoint/2010/main" val="2209927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14E36-C02D-6B26-9414-6A03491847C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A975E1B-A2AA-AF07-1F7A-CDBFF712F654}"/>
              </a:ext>
            </a:extLst>
          </p:cNvPr>
          <p:cNvPicPr>
            <a:picLocks noChangeAspect="1"/>
          </p:cNvPicPr>
          <p:nvPr/>
        </p:nvPicPr>
        <p:blipFill>
          <a:blip r:embed="rId2"/>
          <a:stretch>
            <a:fillRect/>
          </a:stretch>
        </p:blipFill>
        <p:spPr>
          <a:xfrm>
            <a:off x="203503" y="758679"/>
            <a:ext cx="5307724" cy="2347647"/>
          </a:xfrm>
          <a:prstGeom prst="rect">
            <a:avLst/>
          </a:prstGeom>
        </p:spPr>
      </p:pic>
      <p:sp>
        <p:nvSpPr>
          <p:cNvPr id="4" name="TextBox 3">
            <a:extLst>
              <a:ext uri="{FF2B5EF4-FFF2-40B4-BE49-F238E27FC236}">
                <a16:creationId xmlns:a16="http://schemas.microsoft.com/office/drawing/2014/main" id="{31B6674D-E4B5-5137-3477-4DA00806BFDC}"/>
              </a:ext>
            </a:extLst>
          </p:cNvPr>
          <p:cNvSpPr txBox="1"/>
          <p:nvPr/>
        </p:nvSpPr>
        <p:spPr>
          <a:xfrm>
            <a:off x="115614" y="247943"/>
            <a:ext cx="1640642" cy="369332"/>
          </a:xfrm>
          <a:prstGeom prst="rect">
            <a:avLst/>
          </a:prstGeom>
          <a:noFill/>
        </p:spPr>
        <p:txBody>
          <a:bodyPr wrap="none" rtlCol="0">
            <a:spAutoFit/>
          </a:bodyPr>
          <a:lstStyle/>
          <a:p>
            <a:r>
              <a:rPr lang="en-US" dirty="0"/>
              <a:t>Secure Facility</a:t>
            </a:r>
          </a:p>
        </p:txBody>
      </p:sp>
      <p:sp>
        <p:nvSpPr>
          <p:cNvPr id="6" name="TextBox 5">
            <a:extLst>
              <a:ext uri="{FF2B5EF4-FFF2-40B4-BE49-F238E27FC236}">
                <a16:creationId xmlns:a16="http://schemas.microsoft.com/office/drawing/2014/main" id="{47252A6D-0D27-75A6-C974-234E68C4942F}"/>
              </a:ext>
            </a:extLst>
          </p:cNvPr>
          <p:cNvSpPr txBox="1"/>
          <p:nvPr/>
        </p:nvSpPr>
        <p:spPr>
          <a:xfrm>
            <a:off x="974635" y="3699250"/>
            <a:ext cx="1151021" cy="276999"/>
          </a:xfrm>
          <a:prstGeom prst="rect">
            <a:avLst/>
          </a:prstGeom>
          <a:noFill/>
        </p:spPr>
        <p:txBody>
          <a:bodyPr wrap="none" rtlCol="0">
            <a:spAutoFit/>
          </a:bodyPr>
          <a:lstStyle/>
          <a:p>
            <a:r>
              <a:rPr lang="en-US" sz="1200" dirty="0"/>
              <a:t>No Daylighting</a:t>
            </a:r>
          </a:p>
        </p:txBody>
      </p:sp>
      <p:sp>
        <p:nvSpPr>
          <p:cNvPr id="8" name="TextBox 7">
            <a:extLst>
              <a:ext uri="{FF2B5EF4-FFF2-40B4-BE49-F238E27FC236}">
                <a16:creationId xmlns:a16="http://schemas.microsoft.com/office/drawing/2014/main" id="{22B4D370-4676-215D-6B16-0E601B4FFE72}"/>
              </a:ext>
            </a:extLst>
          </p:cNvPr>
          <p:cNvSpPr txBox="1"/>
          <p:nvPr/>
        </p:nvSpPr>
        <p:spPr>
          <a:xfrm>
            <a:off x="0" y="2558358"/>
            <a:ext cx="1804918" cy="276999"/>
          </a:xfrm>
          <a:prstGeom prst="rect">
            <a:avLst/>
          </a:prstGeom>
          <a:noFill/>
        </p:spPr>
        <p:txBody>
          <a:bodyPr wrap="none" rtlCol="0">
            <a:spAutoFit/>
          </a:bodyPr>
          <a:lstStyle/>
          <a:p>
            <a:r>
              <a:rPr lang="en-US" sz="1200" dirty="0"/>
              <a:t>Exterior Shading Surface</a:t>
            </a:r>
          </a:p>
        </p:txBody>
      </p:sp>
      <p:sp>
        <p:nvSpPr>
          <p:cNvPr id="9" name="TextBox 8">
            <a:extLst>
              <a:ext uri="{FF2B5EF4-FFF2-40B4-BE49-F238E27FC236}">
                <a16:creationId xmlns:a16="http://schemas.microsoft.com/office/drawing/2014/main" id="{3E967C1B-39E5-DDC3-9396-0DF410990A23}"/>
              </a:ext>
            </a:extLst>
          </p:cNvPr>
          <p:cNvSpPr txBox="1"/>
          <p:nvPr/>
        </p:nvSpPr>
        <p:spPr>
          <a:xfrm>
            <a:off x="509033" y="2964811"/>
            <a:ext cx="1627433" cy="276999"/>
          </a:xfrm>
          <a:prstGeom prst="rect">
            <a:avLst/>
          </a:prstGeom>
          <a:noFill/>
        </p:spPr>
        <p:txBody>
          <a:bodyPr wrap="none" rtlCol="0">
            <a:spAutoFit/>
          </a:bodyPr>
          <a:lstStyle/>
          <a:p>
            <a:r>
              <a:rPr lang="en-US" sz="1200" dirty="0"/>
              <a:t>No windows first floor</a:t>
            </a:r>
          </a:p>
        </p:txBody>
      </p:sp>
      <p:sp>
        <p:nvSpPr>
          <p:cNvPr id="10" name="TextBox 9">
            <a:extLst>
              <a:ext uri="{FF2B5EF4-FFF2-40B4-BE49-F238E27FC236}">
                <a16:creationId xmlns:a16="http://schemas.microsoft.com/office/drawing/2014/main" id="{E8F10BFB-03AC-79EE-C73F-E02168E24F46}"/>
              </a:ext>
            </a:extLst>
          </p:cNvPr>
          <p:cNvSpPr txBox="1"/>
          <p:nvPr/>
        </p:nvSpPr>
        <p:spPr>
          <a:xfrm>
            <a:off x="974635" y="4041815"/>
            <a:ext cx="1707840" cy="276999"/>
          </a:xfrm>
          <a:prstGeom prst="rect">
            <a:avLst/>
          </a:prstGeom>
          <a:noFill/>
        </p:spPr>
        <p:txBody>
          <a:bodyPr wrap="none" rtlCol="0">
            <a:spAutoFit/>
          </a:bodyPr>
          <a:lstStyle/>
          <a:p>
            <a:r>
              <a:rPr lang="en-US" sz="1200" dirty="0"/>
              <a:t>No Daylight redirection</a:t>
            </a:r>
          </a:p>
        </p:txBody>
      </p:sp>
      <p:sp>
        <p:nvSpPr>
          <p:cNvPr id="11" name="TextBox 10">
            <a:extLst>
              <a:ext uri="{FF2B5EF4-FFF2-40B4-BE49-F238E27FC236}">
                <a16:creationId xmlns:a16="http://schemas.microsoft.com/office/drawing/2014/main" id="{F3178D3E-EB61-6DCA-03A2-0F04796A1B38}"/>
              </a:ext>
            </a:extLst>
          </p:cNvPr>
          <p:cNvSpPr txBox="1"/>
          <p:nvPr/>
        </p:nvSpPr>
        <p:spPr>
          <a:xfrm>
            <a:off x="115614" y="4367481"/>
            <a:ext cx="1866505" cy="461665"/>
          </a:xfrm>
          <a:prstGeom prst="rect">
            <a:avLst/>
          </a:prstGeom>
          <a:noFill/>
        </p:spPr>
        <p:txBody>
          <a:bodyPr wrap="square" rtlCol="0">
            <a:spAutoFit/>
          </a:bodyPr>
          <a:lstStyle/>
          <a:p>
            <a:r>
              <a:rPr lang="en-US" sz="1200" dirty="0"/>
              <a:t>Insulated concrete exterior wall</a:t>
            </a:r>
          </a:p>
        </p:txBody>
      </p:sp>
      <p:sp>
        <p:nvSpPr>
          <p:cNvPr id="12" name="TextBox 11">
            <a:extLst>
              <a:ext uri="{FF2B5EF4-FFF2-40B4-BE49-F238E27FC236}">
                <a16:creationId xmlns:a16="http://schemas.microsoft.com/office/drawing/2014/main" id="{5162B6B1-BF3E-862A-5B3F-1C6725E118E9}"/>
              </a:ext>
            </a:extLst>
          </p:cNvPr>
          <p:cNvSpPr txBox="1"/>
          <p:nvPr/>
        </p:nvSpPr>
        <p:spPr>
          <a:xfrm>
            <a:off x="115614" y="4960633"/>
            <a:ext cx="1866505" cy="461665"/>
          </a:xfrm>
          <a:prstGeom prst="rect">
            <a:avLst/>
          </a:prstGeom>
          <a:noFill/>
        </p:spPr>
        <p:txBody>
          <a:bodyPr wrap="square" rtlCol="0">
            <a:spAutoFit/>
          </a:bodyPr>
          <a:lstStyle/>
          <a:p>
            <a:r>
              <a:rPr lang="en-US" sz="1200" dirty="0"/>
              <a:t>Interior wall, sound proofing</a:t>
            </a:r>
          </a:p>
        </p:txBody>
      </p:sp>
      <p:sp>
        <p:nvSpPr>
          <p:cNvPr id="13" name="TextBox 12">
            <a:extLst>
              <a:ext uri="{FF2B5EF4-FFF2-40B4-BE49-F238E27FC236}">
                <a16:creationId xmlns:a16="http://schemas.microsoft.com/office/drawing/2014/main" id="{E8EBC048-ADA3-4F25-0017-E3AE5C164926}"/>
              </a:ext>
            </a:extLst>
          </p:cNvPr>
          <p:cNvSpPr txBox="1"/>
          <p:nvPr/>
        </p:nvSpPr>
        <p:spPr>
          <a:xfrm>
            <a:off x="509033" y="3306634"/>
            <a:ext cx="1301575" cy="276999"/>
          </a:xfrm>
          <a:prstGeom prst="rect">
            <a:avLst/>
          </a:prstGeom>
          <a:noFill/>
        </p:spPr>
        <p:txBody>
          <a:bodyPr wrap="none" rtlCol="0">
            <a:spAutoFit/>
          </a:bodyPr>
          <a:lstStyle/>
          <a:p>
            <a:r>
              <a:rPr lang="en-US" sz="1200" dirty="0"/>
              <a:t>windows low VLT</a:t>
            </a:r>
          </a:p>
        </p:txBody>
      </p:sp>
      <p:sp>
        <p:nvSpPr>
          <p:cNvPr id="2" name="TextBox 1">
            <a:extLst>
              <a:ext uri="{FF2B5EF4-FFF2-40B4-BE49-F238E27FC236}">
                <a16:creationId xmlns:a16="http://schemas.microsoft.com/office/drawing/2014/main" id="{F279CE57-A342-B745-068B-6BCF53A78222}"/>
              </a:ext>
            </a:extLst>
          </p:cNvPr>
          <p:cNvSpPr txBox="1"/>
          <p:nvPr/>
        </p:nvSpPr>
        <p:spPr>
          <a:xfrm>
            <a:off x="115613" y="5519631"/>
            <a:ext cx="1866505" cy="276999"/>
          </a:xfrm>
          <a:prstGeom prst="rect">
            <a:avLst/>
          </a:prstGeom>
          <a:noFill/>
        </p:spPr>
        <p:txBody>
          <a:bodyPr wrap="square" rtlCol="0">
            <a:spAutoFit/>
          </a:bodyPr>
          <a:lstStyle/>
          <a:p>
            <a:r>
              <a:rPr lang="en-US" sz="1200" dirty="0"/>
              <a:t>Insulated concrete Roof</a:t>
            </a:r>
          </a:p>
        </p:txBody>
      </p:sp>
      <p:sp>
        <p:nvSpPr>
          <p:cNvPr id="5" name="TextBox 4">
            <a:extLst>
              <a:ext uri="{FF2B5EF4-FFF2-40B4-BE49-F238E27FC236}">
                <a16:creationId xmlns:a16="http://schemas.microsoft.com/office/drawing/2014/main" id="{2A90213E-9E10-E766-1E59-5B9E9B29DCF2}"/>
              </a:ext>
            </a:extLst>
          </p:cNvPr>
          <p:cNvSpPr txBox="1"/>
          <p:nvPr/>
        </p:nvSpPr>
        <p:spPr>
          <a:xfrm>
            <a:off x="115613" y="5893963"/>
            <a:ext cx="1866505" cy="276999"/>
          </a:xfrm>
          <a:prstGeom prst="rect">
            <a:avLst/>
          </a:prstGeom>
          <a:noFill/>
        </p:spPr>
        <p:txBody>
          <a:bodyPr wrap="square" rtlCol="0">
            <a:spAutoFit/>
          </a:bodyPr>
          <a:lstStyle/>
          <a:p>
            <a:r>
              <a:rPr lang="en-US" sz="1200" dirty="0"/>
              <a:t>Very low infiltration</a:t>
            </a:r>
          </a:p>
        </p:txBody>
      </p:sp>
      <p:sp>
        <p:nvSpPr>
          <p:cNvPr id="56" name="TextBox 55">
            <a:extLst>
              <a:ext uri="{FF2B5EF4-FFF2-40B4-BE49-F238E27FC236}">
                <a16:creationId xmlns:a16="http://schemas.microsoft.com/office/drawing/2014/main" id="{5D7A4CF9-1E34-6B88-0DC7-8D11276D56D9}"/>
              </a:ext>
            </a:extLst>
          </p:cNvPr>
          <p:cNvSpPr txBox="1"/>
          <p:nvPr/>
        </p:nvSpPr>
        <p:spPr>
          <a:xfrm>
            <a:off x="10558605" y="2659150"/>
            <a:ext cx="1156086" cy="261610"/>
          </a:xfrm>
          <a:prstGeom prst="rect">
            <a:avLst/>
          </a:prstGeom>
          <a:noFill/>
        </p:spPr>
        <p:txBody>
          <a:bodyPr wrap="none" rtlCol="0">
            <a:spAutoFit/>
          </a:bodyPr>
          <a:lstStyle/>
          <a:p>
            <a:r>
              <a:rPr lang="en-US" sz="1100" b="1" dirty="0"/>
              <a:t>Secure Section</a:t>
            </a:r>
          </a:p>
        </p:txBody>
      </p:sp>
      <p:grpSp>
        <p:nvGrpSpPr>
          <p:cNvPr id="64" name="Group 63">
            <a:extLst>
              <a:ext uri="{FF2B5EF4-FFF2-40B4-BE49-F238E27FC236}">
                <a16:creationId xmlns:a16="http://schemas.microsoft.com/office/drawing/2014/main" id="{00D72F6F-5D90-FE38-AFC4-A551D4CA27A4}"/>
              </a:ext>
            </a:extLst>
          </p:cNvPr>
          <p:cNvGrpSpPr/>
          <p:nvPr/>
        </p:nvGrpSpPr>
        <p:grpSpPr>
          <a:xfrm>
            <a:off x="5120463" y="3000646"/>
            <a:ext cx="6868034" cy="3657000"/>
            <a:chOff x="5120463" y="2835357"/>
            <a:chExt cx="6868034" cy="3657000"/>
          </a:xfrm>
        </p:grpSpPr>
        <p:grpSp>
          <p:nvGrpSpPr>
            <p:cNvPr id="14" name="Group 13">
              <a:extLst>
                <a:ext uri="{FF2B5EF4-FFF2-40B4-BE49-F238E27FC236}">
                  <a16:creationId xmlns:a16="http://schemas.microsoft.com/office/drawing/2014/main" id="{12ED68DA-A6D3-6AF3-9843-E50CC8C0BAB0}"/>
                </a:ext>
              </a:extLst>
            </p:cNvPr>
            <p:cNvGrpSpPr/>
            <p:nvPr/>
          </p:nvGrpSpPr>
          <p:grpSpPr>
            <a:xfrm>
              <a:off x="5120463" y="2835357"/>
              <a:ext cx="6868034" cy="3657000"/>
              <a:chOff x="4837471" y="257775"/>
              <a:chExt cx="6868034" cy="3657000"/>
            </a:xfrm>
          </p:grpSpPr>
          <p:pic>
            <p:nvPicPr>
              <p:cNvPr id="15" name="Picture 14">
                <a:extLst>
                  <a:ext uri="{FF2B5EF4-FFF2-40B4-BE49-F238E27FC236}">
                    <a16:creationId xmlns:a16="http://schemas.microsoft.com/office/drawing/2014/main" id="{E3905636-3F24-24B6-38F7-BD63D5170B11}"/>
                  </a:ext>
                </a:extLst>
              </p:cNvPr>
              <p:cNvPicPr>
                <a:picLocks noChangeAspect="1"/>
              </p:cNvPicPr>
              <p:nvPr/>
            </p:nvPicPr>
            <p:blipFill>
              <a:blip r:embed="rId3"/>
              <a:stretch>
                <a:fillRect/>
              </a:stretch>
            </p:blipFill>
            <p:spPr>
              <a:xfrm>
                <a:off x="4837471" y="257775"/>
                <a:ext cx="6868034" cy="3657000"/>
              </a:xfrm>
              <a:prstGeom prst="rect">
                <a:avLst/>
              </a:prstGeom>
            </p:spPr>
          </p:pic>
          <p:sp>
            <p:nvSpPr>
              <p:cNvPr id="16" name="TextBox 15">
                <a:extLst>
                  <a:ext uri="{FF2B5EF4-FFF2-40B4-BE49-F238E27FC236}">
                    <a16:creationId xmlns:a16="http://schemas.microsoft.com/office/drawing/2014/main" id="{15158867-1B97-B92A-A135-58703D6251A6}"/>
                  </a:ext>
                </a:extLst>
              </p:cNvPr>
              <p:cNvSpPr txBox="1"/>
              <p:nvPr/>
            </p:nvSpPr>
            <p:spPr>
              <a:xfrm>
                <a:off x="5768661" y="1715554"/>
                <a:ext cx="917239" cy="261610"/>
              </a:xfrm>
              <a:prstGeom prst="rect">
                <a:avLst/>
              </a:prstGeom>
              <a:noFill/>
            </p:spPr>
            <p:txBody>
              <a:bodyPr wrap="none" rtlCol="0">
                <a:spAutoFit/>
              </a:bodyPr>
              <a:lstStyle/>
              <a:p>
                <a:r>
                  <a:rPr lang="en-US" sz="1100" dirty="0"/>
                  <a:t>Open Office</a:t>
                </a:r>
              </a:p>
            </p:txBody>
          </p:sp>
          <p:sp>
            <p:nvSpPr>
              <p:cNvPr id="17" name="TextBox 16">
                <a:extLst>
                  <a:ext uri="{FF2B5EF4-FFF2-40B4-BE49-F238E27FC236}">
                    <a16:creationId xmlns:a16="http://schemas.microsoft.com/office/drawing/2014/main" id="{49E25F53-822B-BEF3-7F81-017D779662C9}"/>
                  </a:ext>
                </a:extLst>
              </p:cNvPr>
              <p:cNvSpPr txBox="1"/>
              <p:nvPr/>
            </p:nvSpPr>
            <p:spPr>
              <a:xfrm>
                <a:off x="5731591" y="1389712"/>
                <a:ext cx="1003801" cy="261610"/>
              </a:xfrm>
              <a:prstGeom prst="rect">
                <a:avLst/>
              </a:prstGeom>
              <a:noFill/>
            </p:spPr>
            <p:txBody>
              <a:bodyPr wrap="none" rtlCol="0">
                <a:spAutoFit/>
              </a:bodyPr>
              <a:lstStyle/>
              <a:p>
                <a:r>
                  <a:rPr lang="en-US" sz="1100" dirty="0"/>
                  <a:t>Private Office</a:t>
                </a:r>
              </a:p>
            </p:txBody>
          </p:sp>
          <p:sp>
            <p:nvSpPr>
              <p:cNvPr id="18" name="TextBox 17">
                <a:extLst>
                  <a:ext uri="{FF2B5EF4-FFF2-40B4-BE49-F238E27FC236}">
                    <a16:creationId xmlns:a16="http://schemas.microsoft.com/office/drawing/2014/main" id="{B64D3D2B-7046-7550-F76E-3B591E8D1B4C}"/>
                  </a:ext>
                </a:extLst>
              </p:cNvPr>
              <p:cNvSpPr txBox="1"/>
              <p:nvPr/>
            </p:nvSpPr>
            <p:spPr>
              <a:xfrm>
                <a:off x="6725560" y="3224746"/>
                <a:ext cx="554960" cy="261610"/>
              </a:xfrm>
              <a:prstGeom prst="rect">
                <a:avLst/>
              </a:prstGeom>
              <a:noFill/>
            </p:spPr>
            <p:txBody>
              <a:bodyPr wrap="none" rtlCol="0">
                <a:spAutoFit/>
              </a:bodyPr>
              <a:lstStyle/>
              <a:p>
                <a:r>
                  <a:rPr lang="en-US" sz="1100" dirty="0"/>
                  <a:t>Lobby</a:t>
                </a:r>
              </a:p>
            </p:txBody>
          </p:sp>
          <p:sp>
            <p:nvSpPr>
              <p:cNvPr id="19" name="TextBox 18">
                <a:extLst>
                  <a:ext uri="{FF2B5EF4-FFF2-40B4-BE49-F238E27FC236}">
                    <a16:creationId xmlns:a16="http://schemas.microsoft.com/office/drawing/2014/main" id="{BF9DD81A-4294-E9A7-37D6-E10B9E9F9482}"/>
                  </a:ext>
                </a:extLst>
              </p:cNvPr>
              <p:cNvSpPr txBox="1"/>
              <p:nvPr/>
            </p:nvSpPr>
            <p:spPr>
              <a:xfrm>
                <a:off x="5714073" y="3234344"/>
                <a:ext cx="902811" cy="261610"/>
              </a:xfrm>
              <a:prstGeom prst="rect">
                <a:avLst/>
              </a:prstGeom>
              <a:noFill/>
            </p:spPr>
            <p:txBody>
              <a:bodyPr wrap="none" rtlCol="0">
                <a:spAutoFit/>
              </a:bodyPr>
              <a:lstStyle/>
              <a:p>
                <a:r>
                  <a:rPr lang="en-US" sz="1100" dirty="0"/>
                  <a:t>Conference</a:t>
                </a:r>
              </a:p>
            </p:txBody>
          </p:sp>
          <p:sp>
            <p:nvSpPr>
              <p:cNvPr id="20" name="TextBox 19">
                <a:extLst>
                  <a:ext uri="{FF2B5EF4-FFF2-40B4-BE49-F238E27FC236}">
                    <a16:creationId xmlns:a16="http://schemas.microsoft.com/office/drawing/2014/main" id="{6603D364-61BB-204C-7660-E04CA3CDD301}"/>
                  </a:ext>
                </a:extLst>
              </p:cNvPr>
              <p:cNvSpPr txBox="1"/>
              <p:nvPr/>
            </p:nvSpPr>
            <p:spPr>
              <a:xfrm rot="16200000">
                <a:off x="6911459" y="1945638"/>
                <a:ext cx="691215" cy="261610"/>
              </a:xfrm>
              <a:prstGeom prst="rect">
                <a:avLst/>
              </a:prstGeom>
              <a:noFill/>
            </p:spPr>
            <p:txBody>
              <a:bodyPr wrap="none" rtlCol="0">
                <a:spAutoFit/>
              </a:bodyPr>
              <a:lstStyle/>
              <a:p>
                <a:r>
                  <a:rPr lang="en-US" sz="1100" dirty="0"/>
                  <a:t>Corridor</a:t>
                </a:r>
              </a:p>
            </p:txBody>
          </p:sp>
          <p:sp>
            <p:nvSpPr>
              <p:cNvPr id="21" name="TextBox 20">
                <a:extLst>
                  <a:ext uri="{FF2B5EF4-FFF2-40B4-BE49-F238E27FC236}">
                    <a16:creationId xmlns:a16="http://schemas.microsoft.com/office/drawing/2014/main" id="{0172B7FB-B39C-3D1F-C6BE-BF42C3CCFBBD}"/>
                  </a:ext>
                </a:extLst>
              </p:cNvPr>
              <p:cNvSpPr txBox="1"/>
              <p:nvPr/>
            </p:nvSpPr>
            <p:spPr>
              <a:xfrm>
                <a:off x="7477668" y="1229448"/>
                <a:ext cx="633507" cy="261610"/>
              </a:xfrm>
              <a:prstGeom prst="rect">
                <a:avLst/>
              </a:prstGeom>
              <a:noFill/>
            </p:spPr>
            <p:txBody>
              <a:bodyPr wrap="none" rtlCol="0">
                <a:spAutoFit/>
              </a:bodyPr>
              <a:lstStyle/>
              <a:p>
                <a:r>
                  <a:rPr lang="en-US" sz="1100" dirty="0"/>
                  <a:t>Lounge</a:t>
                </a:r>
              </a:p>
            </p:txBody>
          </p:sp>
          <p:sp>
            <p:nvSpPr>
              <p:cNvPr id="22" name="TextBox 21">
                <a:extLst>
                  <a:ext uri="{FF2B5EF4-FFF2-40B4-BE49-F238E27FC236}">
                    <a16:creationId xmlns:a16="http://schemas.microsoft.com/office/drawing/2014/main" id="{44ACC5BB-1680-3305-D6DE-4EE1A641EFE3}"/>
                  </a:ext>
                </a:extLst>
              </p:cNvPr>
              <p:cNvSpPr txBox="1"/>
              <p:nvPr/>
            </p:nvSpPr>
            <p:spPr>
              <a:xfrm>
                <a:off x="7567192" y="1728860"/>
                <a:ext cx="476412" cy="261610"/>
              </a:xfrm>
              <a:prstGeom prst="rect">
                <a:avLst/>
              </a:prstGeom>
              <a:noFill/>
            </p:spPr>
            <p:txBody>
              <a:bodyPr wrap="none" rtlCol="0">
                <a:spAutoFit/>
              </a:bodyPr>
              <a:lstStyle/>
              <a:p>
                <a:r>
                  <a:rPr lang="en-US" sz="1100" dirty="0"/>
                  <a:t>Data</a:t>
                </a:r>
              </a:p>
            </p:txBody>
          </p:sp>
          <p:sp>
            <p:nvSpPr>
              <p:cNvPr id="23" name="TextBox 22">
                <a:extLst>
                  <a:ext uri="{FF2B5EF4-FFF2-40B4-BE49-F238E27FC236}">
                    <a16:creationId xmlns:a16="http://schemas.microsoft.com/office/drawing/2014/main" id="{AEFC17E0-D19B-8F28-5127-C388C73C44E0}"/>
                  </a:ext>
                </a:extLst>
              </p:cNvPr>
              <p:cNvSpPr txBox="1"/>
              <p:nvPr/>
            </p:nvSpPr>
            <p:spPr>
              <a:xfrm rot="16200000">
                <a:off x="7383101" y="2272042"/>
                <a:ext cx="780983" cy="261610"/>
              </a:xfrm>
              <a:prstGeom prst="rect">
                <a:avLst/>
              </a:prstGeom>
              <a:noFill/>
            </p:spPr>
            <p:txBody>
              <a:bodyPr wrap="none" rtlCol="0">
                <a:spAutoFit/>
              </a:bodyPr>
              <a:lstStyle/>
              <a:p>
                <a:r>
                  <a:rPr lang="en-US" sz="1100" dirty="0"/>
                  <a:t>Restroom</a:t>
                </a:r>
              </a:p>
            </p:txBody>
          </p:sp>
          <p:sp>
            <p:nvSpPr>
              <p:cNvPr id="24" name="TextBox 23">
                <a:extLst>
                  <a:ext uri="{FF2B5EF4-FFF2-40B4-BE49-F238E27FC236}">
                    <a16:creationId xmlns:a16="http://schemas.microsoft.com/office/drawing/2014/main" id="{DA8D9590-07BC-E085-EED0-BC03C470082C}"/>
                  </a:ext>
                </a:extLst>
              </p:cNvPr>
              <p:cNvSpPr txBox="1"/>
              <p:nvPr/>
            </p:nvSpPr>
            <p:spPr>
              <a:xfrm>
                <a:off x="8232002" y="2711839"/>
                <a:ext cx="705642" cy="261610"/>
              </a:xfrm>
              <a:prstGeom prst="rect">
                <a:avLst/>
              </a:prstGeom>
              <a:noFill/>
            </p:spPr>
            <p:txBody>
              <a:bodyPr wrap="none" rtlCol="0">
                <a:spAutoFit/>
              </a:bodyPr>
              <a:lstStyle/>
              <a:p>
                <a:r>
                  <a:rPr lang="en-US" sz="1100" dirty="0"/>
                  <a:t>Stairway</a:t>
                </a:r>
              </a:p>
            </p:txBody>
          </p:sp>
          <p:sp>
            <p:nvSpPr>
              <p:cNvPr id="25" name="TextBox 24">
                <a:extLst>
                  <a:ext uri="{FF2B5EF4-FFF2-40B4-BE49-F238E27FC236}">
                    <a16:creationId xmlns:a16="http://schemas.microsoft.com/office/drawing/2014/main" id="{CF73ED5A-D391-E2C4-CAAE-8A279DD59882}"/>
                  </a:ext>
                </a:extLst>
              </p:cNvPr>
              <p:cNvSpPr txBox="1"/>
              <p:nvPr/>
            </p:nvSpPr>
            <p:spPr>
              <a:xfrm>
                <a:off x="8258451" y="1224262"/>
                <a:ext cx="652743" cy="261610"/>
              </a:xfrm>
              <a:prstGeom prst="rect">
                <a:avLst/>
              </a:prstGeom>
              <a:noFill/>
            </p:spPr>
            <p:txBody>
              <a:bodyPr wrap="none" rtlCol="0">
                <a:spAutoFit/>
              </a:bodyPr>
              <a:lstStyle/>
              <a:p>
                <a:r>
                  <a:rPr lang="en-US" sz="1100" dirty="0"/>
                  <a:t>Storage</a:t>
                </a:r>
              </a:p>
            </p:txBody>
          </p:sp>
          <p:sp>
            <p:nvSpPr>
              <p:cNvPr id="26" name="TextBox 25">
                <a:extLst>
                  <a:ext uri="{FF2B5EF4-FFF2-40B4-BE49-F238E27FC236}">
                    <a16:creationId xmlns:a16="http://schemas.microsoft.com/office/drawing/2014/main" id="{F602B7A7-BE22-2755-8799-F6EF9392DB12}"/>
                  </a:ext>
                </a:extLst>
              </p:cNvPr>
              <p:cNvSpPr txBox="1"/>
              <p:nvPr/>
            </p:nvSpPr>
            <p:spPr>
              <a:xfrm>
                <a:off x="8046855" y="1958246"/>
                <a:ext cx="1075936" cy="261610"/>
              </a:xfrm>
              <a:prstGeom prst="rect">
                <a:avLst/>
              </a:prstGeom>
              <a:noFill/>
            </p:spPr>
            <p:txBody>
              <a:bodyPr wrap="none" rtlCol="0">
                <a:spAutoFit/>
              </a:bodyPr>
              <a:lstStyle/>
              <a:p>
                <a:r>
                  <a:rPr lang="en-US" sz="1100" dirty="0"/>
                  <a:t>Mech and Elec</a:t>
                </a:r>
              </a:p>
            </p:txBody>
          </p:sp>
          <p:sp>
            <p:nvSpPr>
              <p:cNvPr id="27" name="TextBox 26">
                <a:extLst>
                  <a:ext uri="{FF2B5EF4-FFF2-40B4-BE49-F238E27FC236}">
                    <a16:creationId xmlns:a16="http://schemas.microsoft.com/office/drawing/2014/main" id="{BE0B091D-613C-88B8-9343-645F3F9149CF}"/>
                  </a:ext>
                </a:extLst>
              </p:cNvPr>
              <p:cNvSpPr txBox="1"/>
              <p:nvPr/>
            </p:nvSpPr>
            <p:spPr>
              <a:xfrm>
                <a:off x="7427975" y="2793339"/>
                <a:ext cx="683200" cy="261610"/>
              </a:xfrm>
              <a:prstGeom prst="rect">
                <a:avLst/>
              </a:prstGeom>
              <a:noFill/>
            </p:spPr>
            <p:txBody>
              <a:bodyPr wrap="none" rtlCol="0">
                <a:spAutoFit/>
              </a:bodyPr>
              <a:lstStyle/>
              <a:p>
                <a:r>
                  <a:rPr lang="en-US" sz="1100" dirty="0"/>
                  <a:t>Elevator</a:t>
                </a:r>
              </a:p>
            </p:txBody>
          </p:sp>
          <p:sp>
            <p:nvSpPr>
              <p:cNvPr id="28" name="TextBox 27">
                <a:extLst>
                  <a:ext uri="{FF2B5EF4-FFF2-40B4-BE49-F238E27FC236}">
                    <a16:creationId xmlns:a16="http://schemas.microsoft.com/office/drawing/2014/main" id="{83AAD398-B994-4345-3937-222C7A0CB9FE}"/>
                  </a:ext>
                </a:extLst>
              </p:cNvPr>
              <p:cNvSpPr txBox="1"/>
              <p:nvPr/>
            </p:nvSpPr>
            <p:spPr>
              <a:xfrm rot="16200000">
                <a:off x="9047195" y="1926848"/>
                <a:ext cx="691215" cy="261610"/>
              </a:xfrm>
              <a:prstGeom prst="rect">
                <a:avLst/>
              </a:prstGeom>
              <a:noFill/>
            </p:spPr>
            <p:txBody>
              <a:bodyPr wrap="none" rtlCol="0">
                <a:spAutoFit/>
              </a:bodyPr>
              <a:lstStyle/>
              <a:p>
                <a:r>
                  <a:rPr lang="en-US" sz="1100" dirty="0"/>
                  <a:t>Corridor</a:t>
                </a:r>
              </a:p>
            </p:txBody>
          </p:sp>
          <p:sp>
            <p:nvSpPr>
              <p:cNvPr id="29" name="TextBox 28">
                <a:extLst>
                  <a:ext uri="{FF2B5EF4-FFF2-40B4-BE49-F238E27FC236}">
                    <a16:creationId xmlns:a16="http://schemas.microsoft.com/office/drawing/2014/main" id="{D6FD6F75-5E3C-D191-4E58-58E065306FC8}"/>
                  </a:ext>
                </a:extLst>
              </p:cNvPr>
              <p:cNvSpPr txBox="1"/>
              <p:nvPr/>
            </p:nvSpPr>
            <p:spPr>
              <a:xfrm>
                <a:off x="8346930" y="665853"/>
                <a:ext cx="554960" cy="261610"/>
              </a:xfrm>
              <a:prstGeom prst="rect">
                <a:avLst/>
              </a:prstGeom>
              <a:noFill/>
            </p:spPr>
            <p:txBody>
              <a:bodyPr wrap="none" rtlCol="0">
                <a:spAutoFit/>
              </a:bodyPr>
              <a:lstStyle/>
              <a:p>
                <a:r>
                  <a:rPr lang="en-US" sz="1100" dirty="0"/>
                  <a:t>Lobby</a:t>
                </a:r>
              </a:p>
            </p:txBody>
          </p:sp>
          <p:sp>
            <p:nvSpPr>
              <p:cNvPr id="30" name="TextBox 29">
                <a:extLst>
                  <a:ext uri="{FF2B5EF4-FFF2-40B4-BE49-F238E27FC236}">
                    <a16:creationId xmlns:a16="http://schemas.microsoft.com/office/drawing/2014/main" id="{4BAB6DE2-9828-B838-FF2B-227D0C8BBB00}"/>
                  </a:ext>
                </a:extLst>
              </p:cNvPr>
              <p:cNvSpPr txBox="1"/>
              <p:nvPr/>
            </p:nvSpPr>
            <p:spPr>
              <a:xfrm>
                <a:off x="9939923" y="674209"/>
                <a:ext cx="902811" cy="261610"/>
              </a:xfrm>
              <a:prstGeom prst="rect">
                <a:avLst/>
              </a:prstGeom>
              <a:noFill/>
            </p:spPr>
            <p:txBody>
              <a:bodyPr wrap="none" rtlCol="0">
                <a:spAutoFit/>
              </a:bodyPr>
              <a:lstStyle/>
              <a:p>
                <a:r>
                  <a:rPr lang="en-US" sz="1100" dirty="0"/>
                  <a:t>Conference</a:t>
                </a:r>
              </a:p>
            </p:txBody>
          </p:sp>
          <p:sp>
            <p:nvSpPr>
              <p:cNvPr id="31" name="TextBox 30">
                <a:extLst>
                  <a:ext uri="{FF2B5EF4-FFF2-40B4-BE49-F238E27FC236}">
                    <a16:creationId xmlns:a16="http://schemas.microsoft.com/office/drawing/2014/main" id="{815A906B-764A-0FE3-3A74-28D863CC7DC5}"/>
                  </a:ext>
                </a:extLst>
              </p:cNvPr>
              <p:cNvSpPr txBox="1"/>
              <p:nvPr/>
            </p:nvSpPr>
            <p:spPr>
              <a:xfrm>
                <a:off x="9889427" y="2443202"/>
                <a:ext cx="1003801" cy="261610"/>
              </a:xfrm>
              <a:prstGeom prst="rect">
                <a:avLst/>
              </a:prstGeom>
              <a:noFill/>
            </p:spPr>
            <p:txBody>
              <a:bodyPr wrap="none" rtlCol="0">
                <a:spAutoFit/>
              </a:bodyPr>
              <a:lstStyle/>
              <a:p>
                <a:r>
                  <a:rPr lang="en-US" sz="1100" dirty="0"/>
                  <a:t>Private Office</a:t>
                </a:r>
              </a:p>
            </p:txBody>
          </p:sp>
          <p:sp>
            <p:nvSpPr>
              <p:cNvPr id="32" name="TextBox 31">
                <a:extLst>
                  <a:ext uri="{FF2B5EF4-FFF2-40B4-BE49-F238E27FC236}">
                    <a16:creationId xmlns:a16="http://schemas.microsoft.com/office/drawing/2014/main" id="{E03D3993-35AC-23FA-E7A2-9B7A155EEBC4}"/>
                  </a:ext>
                </a:extLst>
              </p:cNvPr>
              <p:cNvSpPr txBox="1"/>
              <p:nvPr/>
            </p:nvSpPr>
            <p:spPr>
              <a:xfrm>
                <a:off x="9939923" y="2219856"/>
                <a:ext cx="917239" cy="261610"/>
              </a:xfrm>
              <a:prstGeom prst="rect">
                <a:avLst/>
              </a:prstGeom>
              <a:noFill/>
            </p:spPr>
            <p:txBody>
              <a:bodyPr wrap="none" rtlCol="0">
                <a:spAutoFit/>
              </a:bodyPr>
              <a:lstStyle/>
              <a:p>
                <a:r>
                  <a:rPr lang="en-US" sz="1100" dirty="0"/>
                  <a:t>Open Office</a:t>
                </a:r>
              </a:p>
            </p:txBody>
          </p:sp>
        </p:grpSp>
        <p:sp>
          <p:nvSpPr>
            <p:cNvPr id="34" name="Freeform: Shape 33">
              <a:extLst>
                <a:ext uri="{FF2B5EF4-FFF2-40B4-BE49-F238E27FC236}">
                  <a16:creationId xmlns:a16="http://schemas.microsoft.com/office/drawing/2014/main" id="{68B96CB1-F57A-89FA-C69E-F430B56ECA2B}"/>
                </a:ext>
              </a:extLst>
            </p:cNvPr>
            <p:cNvSpPr/>
            <p:nvPr/>
          </p:nvSpPr>
          <p:spPr>
            <a:xfrm>
              <a:off x="8585791" y="2939902"/>
              <a:ext cx="3296093" cy="3455582"/>
            </a:xfrm>
            <a:custGeom>
              <a:avLst/>
              <a:gdLst>
                <a:gd name="connsiteX0" fmla="*/ 1626781 w 3296093"/>
                <a:gd name="connsiteY0" fmla="*/ 0 h 3455582"/>
                <a:gd name="connsiteX1" fmla="*/ 1626781 w 3296093"/>
                <a:gd name="connsiteY1" fmla="*/ 616689 h 3455582"/>
                <a:gd name="connsiteX2" fmla="*/ 1339702 w 3296093"/>
                <a:gd name="connsiteY2" fmla="*/ 622005 h 3455582"/>
                <a:gd name="connsiteX3" fmla="*/ 1345018 w 3296093"/>
                <a:gd name="connsiteY3" fmla="*/ 2828261 h 3455582"/>
                <a:gd name="connsiteX4" fmla="*/ 0 w 3296093"/>
                <a:gd name="connsiteY4" fmla="*/ 2828261 h 3455582"/>
                <a:gd name="connsiteX5" fmla="*/ 5316 w 3296093"/>
                <a:gd name="connsiteY5" fmla="*/ 3455582 h 3455582"/>
                <a:gd name="connsiteX6" fmla="*/ 3296093 w 3296093"/>
                <a:gd name="connsiteY6" fmla="*/ 3444949 h 3455582"/>
                <a:gd name="connsiteX7" fmla="*/ 3290776 w 3296093"/>
                <a:gd name="connsiteY7" fmla="*/ 10633 h 3455582"/>
                <a:gd name="connsiteX8" fmla="*/ 1626781 w 3296093"/>
                <a:gd name="connsiteY8" fmla="*/ 0 h 345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96093" h="3455582">
                  <a:moveTo>
                    <a:pt x="1626781" y="0"/>
                  </a:moveTo>
                  <a:lnTo>
                    <a:pt x="1626781" y="616689"/>
                  </a:lnTo>
                  <a:lnTo>
                    <a:pt x="1339702" y="622005"/>
                  </a:lnTo>
                  <a:lnTo>
                    <a:pt x="1345018" y="2828261"/>
                  </a:lnTo>
                  <a:lnTo>
                    <a:pt x="0" y="2828261"/>
                  </a:lnTo>
                  <a:lnTo>
                    <a:pt x="5316" y="3455582"/>
                  </a:lnTo>
                  <a:lnTo>
                    <a:pt x="3296093" y="3444949"/>
                  </a:lnTo>
                  <a:cubicBezTo>
                    <a:pt x="3294321" y="2300177"/>
                    <a:pt x="3292548" y="1155405"/>
                    <a:pt x="3290776" y="10633"/>
                  </a:cubicBezTo>
                  <a:lnTo>
                    <a:pt x="1626781" y="0"/>
                  </a:lnTo>
                  <a:close/>
                </a:path>
              </a:pathLst>
            </a:custGeom>
            <a:pattFill prst="pct5">
              <a:fgClr>
                <a:schemeClr val="tx1"/>
              </a:fgClr>
              <a:bgClr>
                <a:schemeClr val="bg2"/>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75DDD633-0E2D-827D-56BE-D5EF3DE93C57}"/>
                </a:ext>
              </a:extLst>
            </p:cNvPr>
            <p:cNvCxnSpPr>
              <a:cxnSpLocks/>
              <a:stCxn id="34" idx="3"/>
            </p:cNvCxnSpPr>
            <p:nvPr/>
          </p:nvCxnSpPr>
          <p:spPr>
            <a:xfrm flipV="1">
              <a:off x="9930809" y="5752214"/>
              <a:ext cx="1098031" cy="15949"/>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83E3916D-13AE-0409-6698-E92170910718}"/>
                </a:ext>
              </a:extLst>
            </p:cNvPr>
            <p:cNvCxnSpPr>
              <a:cxnSpLocks/>
              <a:endCxn id="34" idx="6"/>
            </p:cNvCxnSpPr>
            <p:nvPr/>
          </p:nvCxnSpPr>
          <p:spPr>
            <a:xfrm>
              <a:off x="11028840" y="5760188"/>
              <a:ext cx="853044" cy="624663"/>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01B4C4FB-D288-7799-000D-D1812338C388}"/>
                </a:ext>
              </a:extLst>
            </p:cNvPr>
            <p:cNvCxnSpPr>
              <a:cxnSpLocks/>
              <a:endCxn id="34" idx="7"/>
            </p:cNvCxnSpPr>
            <p:nvPr/>
          </p:nvCxnSpPr>
          <p:spPr>
            <a:xfrm flipV="1">
              <a:off x="11042907" y="2950535"/>
              <a:ext cx="833660" cy="611488"/>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A34D5BED-3397-B9E6-9BD4-E9BB5C26D5AC}"/>
                </a:ext>
              </a:extLst>
            </p:cNvPr>
            <p:cNvCxnSpPr>
              <a:cxnSpLocks/>
            </p:cNvCxnSpPr>
            <p:nvPr/>
          </p:nvCxnSpPr>
          <p:spPr>
            <a:xfrm flipV="1">
              <a:off x="11028840" y="3583633"/>
              <a:ext cx="14067" cy="2165922"/>
            </a:xfrm>
            <a:prstGeom prst="line">
              <a:avLst/>
            </a:prstGeom>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127C5AB9-F680-DE76-4982-6FA607968867}"/>
                </a:ext>
              </a:extLst>
            </p:cNvPr>
            <p:cNvCxnSpPr>
              <a:cxnSpLocks/>
              <a:endCxn id="34" idx="1"/>
            </p:cNvCxnSpPr>
            <p:nvPr/>
          </p:nvCxnSpPr>
          <p:spPr>
            <a:xfrm flipH="1" flipV="1">
              <a:off x="10212572" y="3556591"/>
              <a:ext cx="830335" cy="10864"/>
            </a:xfrm>
            <a:prstGeom prst="line">
              <a:avLst/>
            </a:prstGeom>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F82E06F8-613B-97C5-3C3F-1D19D84ABE68}"/>
                </a:ext>
              </a:extLst>
            </p:cNvPr>
            <p:cNvSpPr txBox="1"/>
            <p:nvPr/>
          </p:nvSpPr>
          <p:spPr>
            <a:xfrm>
              <a:off x="10233837" y="3285583"/>
              <a:ext cx="902811" cy="261610"/>
            </a:xfrm>
            <a:prstGeom prst="rect">
              <a:avLst/>
            </a:prstGeom>
            <a:noFill/>
          </p:spPr>
          <p:txBody>
            <a:bodyPr wrap="none" rtlCol="0">
              <a:spAutoFit/>
            </a:bodyPr>
            <a:lstStyle/>
            <a:p>
              <a:r>
                <a:rPr lang="en-US" sz="1100" dirty="0"/>
                <a:t>Conference</a:t>
              </a:r>
            </a:p>
          </p:txBody>
        </p:sp>
        <p:sp>
          <p:nvSpPr>
            <p:cNvPr id="58" name="TextBox 57">
              <a:extLst>
                <a:ext uri="{FF2B5EF4-FFF2-40B4-BE49-F238E27FC236}">
                  <a16:creationId xmlns:a16="http://schemas.microsoft.com/office/drawing/2014/main" id="{474357EB-AE6D-BB08-A3F2-ABCB5F8C86D7}"/>
                </a:ext>
              </a:extLst>
            </p:cNvPr>
            <p:cNvSpPr txBox="1"/>
            <p:nvPr/>
          </p:nvSpPr>
          <p:spPr>
            <a:xfrm>
              <a:off x="10151952" y="4849624"/>
              <a:ext cx="917239" cy="261610"/>
            </a:xfrm>
            <a:prstGeom prst="rect">
              <a:avLst/>
            </a:prstGeom>
            <a:noFill/>
          </p:spPr>
          <p:txBody>
            <a:bodyPr wrap="none" rtlCol="0">
              <a:spAutoFit/>
            </a:bodyPr>
            <a:lstStyle/>
            <a:p>
              <a:r>
                <a:rPr lang="en-US" sz="1100" dirty="0"/>
                <a:t>Open Office</a:t>
              </a:r>
            </a:p>
          </p:txBody>
        </p:sp>
        <p:sp>
          <p:nvSpPr>
            <p:cNvPr id="59" name="TextBox 58">
              <a:extLst>
                <a:ext uri="{FF2B5EF4-FFF2-40B4-BE49-F238E27FC236}">
                  <a16:creationId xmlns:a16="http://schemas.microsoft.com/office/drawing/2014/main" id="{4CC725CB-CAF3-D895-0C83-EA9B3A0EAA65}"/>
                </a:ext>
              </a:extLst>
            </p:cNvPr>
            <p:cNvSpPr txBox="1"/>
            <p:nvPr/>
          </p:nvSpPr>
          <p:spPr>
            <a:xfrm>
              <a:off x="10108672" y="5069221"/>
              <a:ext cx="1003801" cy="261610"/>
            </a:xfrm>
            <a:prstGeom prst="rect">
              <a:avLst/>
            </a:prstGeom>
            <a:noFill/>
          </p:spPr>
          <p:txBody>
            <a:bodyPr wrap="none" rtlCol="0">
              <a:spAutoFit/>
            </a:bodyPr>
            <a:lstStyle/>
            <a:p>
              <a:r>
                <a:rPr lang="en-US" sz="1100" dirty="0"/>
                <a:t>Private Office</a:t>
              </a:r>
            </a:p>
          </p:txBody>
        </p:sp>
        <p:cxnSp>
          <p:nvCxnSpPr>
            <p:cNvPr id="60" name="Straight Connector 59">
              <a:extLst>
                <a:ext uri="{FF2B5EF4-FFF2-40B4-BE49-F238E27FC236}">
                  <a16:creationId xmlns:a16="http://schemas.microsoft.com/office/drawing/2014/main" id="{52B69A89-2586-39E4-6B26-10CDBE8AD9A7}"/>
                </a:ext>
              </a:extLst>
            </p:cNvPr>
            <p:cNvCxnSpPr>
              <a:cxnSpLocks/>
            </p:cNvCxnSpPr>
            <p:nvPr/>
          </p:nvCxnSpPr>
          <p:spPr>
            <a:xfrm flipH="1">
              <a:off x="9935785" y="5069221"/>
              <a:ext cx="110712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57641937-784C-E066-4E2C-3941996B9FAE}"/>
                </a:ext>
              </a:extLst>
            </p:cNvPr>
            <p:cNvCxnSpPr>
              <a:cxnSpLocks/>
            </p:cNvCxnSpPr>
            <p:nvPr/>
          </p:nvCxnSpPr>
          <p:spPr>
            <a:xfrm flipH="1">
              <a:off x="9935785" y="4228904"/>
              <a:ext cx="1107122" cy="0"/>
            </a:xfrm>
            <a:prstGeom prst="line">
              <a:avLst/>
            </a:prstGeom>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710189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1611648-7F6A-3794-EF38-D616E0E4700C}"/>
              </a:ext>
            </a:extLst>
          </p:cNvPr>
          <p:cNvSpPr txBox="1"/>
          <p:nvPr/>
        </p:nvSpPr>
        <p:spPr>
          <a:xfrm>
            <a:off x="707094" y="1281410"/>
            <a:ext cx="4728602" cy="369332"/>
          </a:xfrm>
          <a:prstGeom prst="rect">
            <a:avLst/>
          </a:prstGeom>
          <a:noFill/>
        </p:spPr>
        <p:txBody>
          <a:bodyPr wrap="none" rtlCol="0">
            <a:spAutoFit/>
          </a:bodyPr>
          <a:lstStyle/>
          <a:p>
            <a:r>
              <a:rPr lang="en-US" dirty="0"/>
              <a:t>System D R40 Roof and 8in Concrete </a:t>
            </a:r>
            <a:r>
              <a:rPr lang="en-US" dirty="0" err="1"/>
              <a:t>ext</a:t>
            </a:r>
            <a:r>
              <a:rPr lang="en-US" dirty="0"/>
              <a:t> walls</a:t>
            </a:r>
          </a:p>
        </p:txBody>
      </p:sp>
      <p:sp>
        <p:nvSpPr>
          <p:cNvPr id="12" name="TextBox 11">
            <a:extLst>
              <a:ext uri="{FF2B5EF4-FFF2-40B4-BE49-F238E27FC236}">
                <a16:creationId xmlns:a16="http://schemas.microsoft.com/office/drawing/2014/main" id="{860278CC-6C4F-01EC-97E7-2AE4A50464A4}"/>
              </a:ext>
            </a:extLst>
          </p:cNvPr>
          <p:cNvSpPr txBox="1"/>
          <p:nvPr/>
        </p:nvSpPr>
        <p:spPr>
          <a:xfrm>
            <a:off x="699486" y="1633146"/>
            <a:ext cx="4195829" cy="369332"/>
          </a:xfrm>
          <a:prstGeom prst="rect">
            <a:avLst/>
          </a:prstGeom>
          <a:noFill/>
        </p:spPr>
        <p:txBody>
          <a:bodyPr wrap="none" rtlCol="0">
            <a:spAutoFit/>
          </a:bodyPr>
          <a:lstStyle/>
          <a:p>
            <a:r>
              <a:rPr lang="en-US" dirty="0"/>
              <a:t>System D adding internal sound proofing</a:t>
            </a:r>
          </a:p>
        </p:txBody>
      </p:sp>
      <p:pic>
        <p:nvPicPr>
          <p:cNvPr id="2" name="Picture 1" descr="A graph with a line&#10;&#10;AI-generated content may be incorrect.">
            <a:extLst>
              <a:ext uri="{FF2B5EF4-FFF2-40B4-BE49-F238E27FC236}">
                <a16:creationId xmlns:a16="http://schemas.microsoft.com/office/drawing/2014/main" id="{C760A3B1-EF5A-DEC0-6F8E-2855F261C8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795" y="525687"/>
            <a:ext cx="5324994" cy="3328121"/>
          </a:xfrm>
          <a:prstGeom prst="rect">
            <a:avLst/>
          </a:prstGeom>
        </p:spPr>
      </p:pic>
      <p:sp>
        <p:nvSpPr>
          <p:cNvPr id="3" name="TextBox 2">
            <a:extLst>
              <a:ext uri="{FF2B5EF4-FFF2-40B4-BE49-F238E27FC236}">
                <a16:creationId xmlns:a16="http://schemas.microsoft.com/office/drawing/2014/main" id="{00CC35BE-7EFA-96E3-85F4-CEBC75F6CD4F}"/>
              </a:ext>
            </a:extLst>
          </p:cNvPr>
          <p:cNvSpPr txBox="1"/>
          <p:nvPr/>
        </p:nvSpPr>
        <p:spPr>
          <a:xfrm>
            <a:off x="707094" y="2005082"/>
            <a:ext cx="2922082" cy="369332"/>
          </a:xfrm>
          <a:prstGeom prst="rect">
            <a:avLst/>
          </a:prstGeom>
          <a:noFill/>
        </p:spPr>
        <p:txBody>
          <a:bodyPr wrap="square" rtlCol="0">
            <a:spAutoFit/>
          </a:bodyPr>
          <a:lstStyle/>
          <a:p>
            <a:r>
              <a:rPr lang="en-US" dirty="0"/>
              <a:t>System D tighter infiltration </a:t>
            </a:r>
          </a:p>
        </p:txBody>
      </p:sp>
      <p:sp>
        <p:nvSpPr>
          <p:cNvPr id="8" name="TextBox 7">
            <a:extLst>
              <a:ext uri="{FF2B5EF4-FFF2-40B4-BE49-F238E27FC236}">
                <a16:creationId xmlns:a16="http://schemas.microsoft.com/office/drawing/2014/main" id="{E327FA67-920E-FD94-8093-4010724A63A8}"/>
              </a:ext>
            </a:extLst>
          </p:cNvPr>
          <p:cNvSpPr txBox="1"/>
          <p:nvPr/>
        </p:nvSpPr>
        <p:spPr>
          <a:xfrm>
            <a:off x="744880" y="3576976"/>
            <a:ext cx="2922082" cy="369332"/>
          </a:xfrm>
          <a:prstGeom prst="rect">
            <a:avLst/>
          </a:prstGeom>
          <a:noFill/>
        </p:spPr>
        <p:txBody>
          <a:bodyPr wrap="square" rtlCol="0">
            <a:spAutoFit/>
          </a:bodyPr>
          <a:lstStyle/>
          <a:p>
            <a:r>
              <a:rPr lang="en-US" dirty="0"/>
              <a:t>System D No Daylighting</a:t>
            </a:r>
          </a:p>
        </p:txBody>
      </p:sp>
      <p:sp>
        <p:nvSpPr>
          <p:cNvPr id="10" name="TextBox 9">
            <a:extLst>
              <a:ext uri="{FF2B5EF4-FFF2-40B4-BE49-F238E27FC236}">
                <a16:creationId xmlns:a16="http://schemas.microsoft.com/office/drawing/2014/main" id="{C8DE7042-0DE1-01B9-738E-7BCC48336272}"/>
              </a:ext>
            </a:extLst>
          </p:cNvPr>
          <p:cNvSpPr txBox="1"/>
          <p:nvPr/>
        </p:nvSpPr>
        <p:spPr>
          <a:xfrm>
            <a:off x="744880" y="2863087"/>
            <a:ext cx="2922082" cy="369332"/>
          </a:xfrm>
          <a:prstGeom prst="rect">
            <a:avLst/>
          </a:prstGeom>
          <a:noFill/>
        </p:spPr>
        <p:txBody>
          <a:bodyPr wrap="square" rtlCol="0">
            <a:spAutoFit/>
          </a:bodyPr>
          <a:lstStyle/>
          <a:p>
            <a:r>
              <a:rPr lang="en-US" dirty="0"/>
              <a:t>System D Window VLT 0.25</a:t>
            </a:r>
          </a:p>
        </p:txBody>
      </p:sp>
      <p:sp>
        <p:nvSpPr>
          <p:cNvPr id="13" name="TextBox 12">
            <a:extLst>
              <a:ext uri="{FF2B5EF4-FFF2-40B4-BE49-F238E27FC236}">
                <a16:creationId xmlns:a16="http://schemas.microsoft.com/office/drawing/2014/main" id="{CA0476FA-0BA2-07F8-A10D-188222DD1A78}"/>
              </a:ext>
            </a:extLst>
          </p:cNvPr>
          <p:cNvSpPr txBox="1"/>
          <p:nvPr/>
        </p:nvSpPr>
        <p:spPr>
          <a:xfrm>
            <a:off x="722793" y="5576590"/>
            <a:ext cx="4112257" cy="369332"/>
          </a:xfrm>
          <a:prstGeom prst="rect">
            <a:avLst/>
          </a:prstGeom>
          <a:noFill/>
        </p:spPr>
        <p:txBody>
          <a:bodyPr wrap="square" rtlCol="0">
            <a:spAutoFit/>
          </a:bodyPr>
          <a:lstStyle/>
          <a:p>
            <a:r>
              <a:rPr lang="en-US" dirty="0"/>
              <a:t>System D Fan static pressure increase</a:t>
            </a:r>
          </a:p>
        </p:txBody>
      </p:sp>
      <p:sp>
        <p:nvSpPr>
          <p:cNvPr id="14" name="TextBox 13">
            <a:extLst>
              <a:ext uri="{FF2B5EF4-FFF2-40B4-BE49-F238E27FC236}">
                <a16:creationId xmlns:a16="http://schemas.microsoft.com/office/drawing/2014/main" id="{219295EA-A377-F94A-6768-4286623A765F}"/>
              </a:ext>
            </a:extLst>
          </p:cNvPr>
          <p:cNvSpPr txBox="1"/>
          <p:nvPr/>
        </p:nvSpPr>
        <p:spPr>
          <a:xfrm>
            <a:off x="744880" y="3202436"/>
            <a:ext cx="4653031" cy="369332"/>
          </a:xfrm>
          <a:prstGeom prst="rect">
            <a:avLst/>
          </a:prstGeom>
          <a:noFill/>
        </p:spPr>
        <p:txBody>
          <a:bodyPr wrap="square" rtlCol="0">
            <a:spAutoFit/>
          </a:bodyPr>
          <a:lstStyle/>
          <a:p>
            <a:r>
              <a:rPr lang="en-US" dirty="0"/>
              <a:t>System D Remove Windows first floor SCIF</a:t>
            </a:r>
          </a:p>
        </p:txBody>
      </p:sp>
      <p:sp>
        <p:nvSpPr>
          <p:cNvPr id="15" name="TextBox 14">
            <a:extLst>
              <a:ext uri="{FF2B5EF4-FFF2-40B4-BE49-F238E27FC236}">
                <a16:creationId xmlns:a16="http://schemas.microsoft.com/office/drawing/2014/main" id="{12F7C0B4-637D-7C1D-56CF-583DD85FE9D6}"/>
              </a:ext>
            </a:extLst>
          </p:cNvPr>
          <p:cNvSpPr txBox="1"/>
          <p:nvPr/>
        </p:nvSpPr>
        <p:spPr>
          <a:xfrm>
            <a:off x="744880" y="3982516"/>
            <a:ext cx="3836954" cy="369332"/>
          </a:xfrm>
          <a:prstGeom prst="rect">
            <a:avLst/>
          </a:prstGeom>
          <a:noFill/>
        </p:spPr>
        <p:txBody>
          <a:bodyPr wrap="square" rtlCol="0">
            <a:spAutoFit/>
          </a:bodyPr>
          <a:lstStyle/>
          <a:p>
            <a:r>
              <a:rPr lang="en-US" dirty="0"/>
              <a:t>System D Remove shading surfaces?</a:t>
            </a:r>
          </a:p>
        </p:txBody>
      </p:sp>
      <p:sp>
        <p:nvSpPr>
          <p:cNvPr id="16" name="TextBox 15">
            <a:extLst>
              <a:ext uri="{FF2B5EF4-FFF2-40B4-BE49-F238E27FC236}">
                <a16:creationId xmlns:a16="http://schemas.microsoft.com/office/drawing/2014/main" id="{1954A72E-4025-CAFA-0D7B-A7B406585F99}"/>
              </a:ext>
            </a:extLst>
          </p:cNvPr>
          <p:cNvSpPr txBox="1"/>
          <p:nvPr/>
        </p:nvSpPr>
        <p:spPr>
          <a:xfrm>
            <a:off x="744880" y="4357056"/>
            <a:ext cx="3836954" cy="369332"/>
          </a:xfrm>
          <a:prstGeom prst="rect">
            <a:avLst/>
          </a:prstGeom>
          <a:noFill/>
        </p:spPr>
        <p:txBody>
          <a:bodyPr wrap="square" rtlCol="0">
            <a:spAutoFit/>
          </a:bodyPr>
          <a:lstStyle/>
          <a:p>
            <a:r>
              <a:rPr lang="en-US" dirty="0"/>
              <a:t>System D Remove light shelves?</a:t>
            </a:r>
          </a:p>
        </p:txBody>
      </p:sp>
      <p:sp>
        <p:nvSpPr>
          <p:cNvPr id="17" name="TextBox 16">
            <a:extLst>
              <a:ext uri="{FF2B5EF4-FFF2-40B4-BE49-F238E27FC236}">
                <a16:creationId xmlns:a16="http://schemas.microsoft.com/office/drawing/2014/main" id="{A2201420-9D3F-9862-B268-C15BFCCD8E09}"/>
              </a:ext>
            </a:extLst>
          </p:cNvPr>
          <p:cNvSpPr txBox="1"/>
          <p:nvPr/>
        </p:nvSpPr>
        <p:spPr>
          <a:xfrm>
            <a:off x="0" y="2553376"/>
            <a:ext cx="2922082" cy="369332"/>
          </a:xfrm>
          <a:prstGeom prst="rect">
            <a:avLst/>
          </a:prstGeom>
          <a:noFill/>
        </p:spPr>
        <p:txBody>
          <a:bodyPr wrap="square" rtlCol="0">
            <a:spAutoFit/>
          </a:bodyPr>
          <a:lstStyle/>
          <a:p>
            <a:r>
              <a:rPr lang="en-US" dirty="0"/>
              <a:t>Windows</a:t>
            </a:r>
          </a:p>
        </p:txBody>
      </p:sp>
      <p:sp>
        <p:nvSpPr>
          <p:cNvPr id="18" name="TextBox 17">
            <a:extLst>
              <a:ext uri="{FF2B5EF4-FFF2-40B4-BE49-F238E27FC236}">
                <a16:creationId xmlns:a16="http://schemas.microsoft.com/office/drawing/2014/main" id="{9FEB7372-0017-3EE3-350E-56D250AA0EA0}"/>
              </a:ext>
            </a:extLst>
          </p:cNvPr>
          <p:cNvSpPr txBox="1"/>
          <p:nvPr/>
        </p:nvSpPr>
        <p:spPr>
          <a:xfrm>
            <a:off x="115614" y="5181520"/>
            <a:ext cx="2922082" cy="369332"/>
          </a:xfrm>
          <a:prstGeom prst="rect">
            <a:avLst/>
          </a:prstGeom>
          <a:noFill/>
        </p:spPr>
        <p:txBody>
          <a:bodyPr wrap="square" rtlCol="0">
            <a:spAutoFit/>
          </a:bodyPr>
          <a:lstStyle/>
          <a:p>
            <a:r>
              <a:rPr lang="en-US" dirty="0"/>
              <a:t>HVAC</a:t>
            </a:r>
          </a:p>
        </p:txBody>
      </p:sp>
      <p:sp>
        <p:nvSpPr>
          <p:cNvPr id="19" name="TextBox 18">
            <a:extLst>
              <a:ext uri="{FF2B5EF4-FFF2-40B4-BE49-F238E27FC236}">
                <a16:creationId xmlns:a16="http://schemas.microsoft.com/office/drawing/2014/main" id="{06E275D0-C0E4-D2B3-CAE3-FC2FAA1E9B6C}"/>
              </a:ext>
            </a:extLst>
          </p:cNvPr>
          <p:cNvSpPr txBox="1"/>
          <p:nvPr/>
        </p:nvSpPr>
        <p:spPr>
          <a:xfrm>
            <a:off x="115614" y="912078"/>
            <a:ext cx="1099788" cy="369332"/>
          </a:xfrm>
          <a:prstGeom prst="rect">
            <a:avLst/>
          </a:prstGeom>
          <a:noFill/>
        </p:spPr>
        <p:txBody>
          <a:bodyPr wrap="none" rtlCol="0">
            <a:spAutoFit/>
          </a:bodyPr>
          <a:lstStyle/>
          <a:p>
            <a:r>
              <a:rPr lang="en-US" dirty="0"/>
              <a:t>Envelope</a:t>
            </a:r>
          </a:p>
        </p:txBody>
      </p:sp>
      <p:pic>
        <p:nvPicPr>
          <p:cNvPr id="21" name="Picture 20">
            <a:extLst>
              <a:ext uri="{FF2B5EF4-FFF2-40B4-BE49-F238E27FC236}">
                <a16:creationId xmlns:a16="http://schemas.microsoft.com/office/drawing/2014/main" id="{E608483E-B3E8-DD92-A065-2DB6CF135E94}"/>
              </a:ext>
            </a:extLst>
          </p:cNvPr>
          <p:cNvPicPr>
            <a:picLocks noChangeAspect="1"/>
          </p:cNvPicPr>
          <p:nvPr/>
        </p:nvPicPr>
        <p:blipFill>
          <a:blip r:embed="rId3"/>
          <a:stretch>
            <a:fillRect/>
          </a:stretch>
        </p:blipFill>
        <p:spPr>
          <a:xfrm>
            <a:off x="5435696" y="4517943"/>
            <a:ext cx="2365678" cy="1991055"/>
          </a:xfrm>
          <a:prstGeom prst="rect">
            <a:avLst/>
          </a:prstGeom>
        </p:spPr>
      </p:pic>
      <p:pic>
        <p:nvPicPr>
          <p:cNvPr id="23" name="Picture 22">
            <a:extLst>
              <a:ext uri="{FF2B5EF4-FFF2-40B4-BE49-F238E27FC236}">
                <a16:creationId xmlns:a16="http://schemas.microsoft.com/office/drawing/2014/main" id="{8D75D694-7D24-628E-73E4-32B4A80604B6}"/>
              </a:ext>
            </a:extLst>
          </p:cNvPr>
          <p:cNvPicPr>
            <a:picLocks noChangeAspect="1"/>
          </p:cNvPicPr>
          <p:nvPr/>
        </p:nvPicPr>
        <p:blipFill>
          <a:blip r:embed="rId4"/>
          <a:stretch>
            <a:fillRect/>
          </a:stretch>
        </p:blipFill>
        <p:spPr>
          <a:xfrm>
            <a:off x="6958278" y="4556494"/>
            <a:ext cx="5118108" cy="2040191"/>
          </a:xfrm>
          <a:prstGeom prst="rect">
            <a:avLst/>
          </a:prstGeom>
        </p:spPr>
      </p:pic>
    </p:spTree>
    <p:extLst>
      <p:ext uri="{BB962C8B-B14F-4D97-AF65-F5344CB8AC3E}">
        <p14:creationId xmlns:p14="http://schemas.microsoft.com/office/powerpoint/2010/main" val="755692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A9C3A-CF5D-A518-BA65-F729F6617378}"/>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383E3683-B5D2-E480-ABD5-D21EE79271A2}"/>
              </a:ext>
            </a:extLst>
          </p:cNvPr>
          <p:cNvSpPr txBox="1"/>
          <p:nvPr/>
        </p:nvSpPr>
        <p:spPr>
          <a:xfrm>
            <a:off x="138443" y="450535"/>
            <a:ext cx="3338684" cy="646331"/>
          </a:xfrm>
          <a:prstGeom prst="rect">
            <a:avLst/>
          </a:prstGeom>
          <a:noFill/>
        </p:spPr>
        <p:txBody>
          <a:bodyPr wrap="square" rtlCol="0">
            <a:spAutoFit/>
          </a:bodyPr>
          <a:lstStyle/>
          <a:p>
            <a:r>
              <a:rPr lang="en-US" dirty="0"/>
              <a:t>With more time scale to either climate zones or states</a:t>
            </a:r>
          </a:p>
        </p:txBody>
      </p:sp>
      <p:pic>
        <p:nvPicPr>
          <p:cNvPr id="3" name="Picture 2">
            <a:extLst>
              <a:ext uri="{FF2B5EF4-FFF2-40B4-BE49-F238E27FC236}">
                <a16:creationId xmlns:a16="http://schemas.microsoft.com/office/drawing/2014/main" id="{D7611B57-7726-28C6-A5F4-5EE0815D9D25}"/>
              </a:ext>
            </a:extLst>
          </p:cNvPr>
          <p:cNvPicPr>
            <a:picLocks noChangeAspect="1"/>
          </p:cNvPicPr>
          <p:nvPr/>
        </p:nvPicPr>
        <p:blipFill>
          <a:blip r:embed="rId2"/>
          <a:stretch>
            <a:fillRect/>
          </a:stretch>
        </p:blipFill>
        <p:spPr>
          <a:xfrm>
            <a:off x="4023436" y="92398"/>
            <a:ext cx="7657143" cy="6504762"/>
          </a:xfrm>
          <a:prstGeom prst="rect">
            <a:avLst/>
          </a:prstGeom>
        </p:spPr>
      </p:pic>
    </p:spTree>
    <p:extLst>
      <p:ext uri="{BB962C8B-B14F-4D97-AF65-F5344CB8AC3E}">
        <p14:creationId xmlns:p14="http://schemas.microsoft.com/office/powerpoint/2010/main" val="31757244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2529</TotalTime>
  <Words>848</Words>
  <Application>Microsoft Office PowerPoint</Application>
  <PresentationFormat>Widescreen</PresentationFormat>
  <Paragraphs>107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brian ball</dc:creator>
  <cp:lastModifiedBy>brian ball</cp:lastModifiedBy>
  <cp:revision>18</cp:revision>
  <dcterms:created xsi:type="dcterms:W3CDTF">2025-09-25T23:13:09Z</dcterms:created>
  <dcterms:modified xsi:type="dcterms:W3CDTF">2025-10-21T18:25:10Z</dcterms:modified>
</cp:coreProperties>
</file>